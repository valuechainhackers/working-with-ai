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7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notesMaster" Target="notesMasters/notesMaster1.xml" /><Relationship Id="rId73" Type="http://schemas.openxmlformats.org/officeDocument/2006/relationships/viewProps" Target="viewProps.xml" /><Relationship Id="rId72" Type="http://schemas.openxmlformats.org/officeDocument/2006/relationships/presProps" Target="presProps.xml" /><Relationship Id="rId1" Type="http://schemas.openxmlformats.org/officeDocument/2006/relationships/slideMaster" Target="slideMasters/slideMaster1.xml" /><Relationship Id="rId75" Type="http://schemas.openxmlformats.org/officeDocument/2006/relationships/tableStyles" Target="tableStyles.xml" /><Relationship Id="rId7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Start with a strong, clear vision based on the </a:t>
            </a:r>
            <a:r>
              <a:rPr>
                <a:latin typeface="Courier"/>
              </a:rPr>
              <a:t>LearningYourney</a:t>
            </a:r>
            <a:r>
              <a:rPr/>
              <a:t> document. Frame this not as a simple course, but as a developmental journey. </a:t>
            </a:r>
            <a:r>
              <a:rPr b="1"/>
              <a:t>Timing:</a:t>
            </a:r>
            <a:r>
              <a:rPr/>
              <a:t> 2 minutes. </a:t>
            </a:r>
            <a:r>
              <a:rPr b="1"/>
              <a:t>Emphasis:</a:t>
            </a:r>
            <a:r>
              <a:rPr/>
              <a:t> Welcome. We’re about to embark on a journey. This isn’t just about learning to use one tool. It’s about developing a new set of skills and a new way of thinking. We’ll track our progress through five distinct levels, starting today.</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Introduce the core framework for the entire course, taken directly from the user’s </a:t>
            </a:r>
            <a:r>
              <a:rPr>
                <a:latin typeface="Courier"/>
              </a:rPr>
              <a:t>overview.md</a:t>
            </a:r>
            <a:r>
              <a:rPr/>
              <a:t>. </a:t>
            </a:r>
            <a:r>
              <a:rPr b="1"/>
              <a:t>Timing:</a:t>
            </a:r>
            <a:r>
              <a:rPr/>
              <a:t> 2 minutes. </a:t>
            </a:r>
            <a:r>
              <a:rPr b="1"/>
              <a:t>Emphasis:</a:t>
            </a:r>
            <a:r>
              <a:rPr/>
              <a:t> This is our map. We will be working our way up this ladder. Each level builds on the last, granting you more power and requiring more critical thinking. We’ll cover Levels 1 and 2 in-depth today and provide a clear path to the higher levels.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Define the first module, tying it directly to the Level 1 concept. </a:t>
            </a:r>
            <a:r>
              <a:rPr b="1"/>
              <a:t>Timing:</a:t>
            </a:r>
            <a:r>
              <a:rPr/>
              <a:t> 1 minute. </a:t>
            </a:r>
            <a:r>
              <a:rPr b="1"/>
              <a:t>Emphasis:</a:t>
            </a:r>
            <a:r>
              <a:rPr/>
              <a:t> Our first step is to become an </a:t>
            </a:r>
            <a:r>
              <a:rPr i="1"/>
              <a:t>aware</a:t>
            </a:r>
            <a:r>
              <a:rPr/>
              <a:t> user. This means being excited by the possibilities but not naive about the risks. This level is all about learning to use AI as a smart, creative, but untrustworthy intern.</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Reframe the initial hook to align with the “aware user” concept. </a:t>
            </a:r>
            <a:r>
              <a:rPr b="1"/>
              <a:t>Timing:</a:t>
            </a:r>
            <a:r>
              <a:rPr/>
              <a:t> 2 minutes. </a:t>
            </a:r>
            <a:r>
              <a:rPr b="1"/>
              <a:t>Emphasis:</a:t>
            </a:r>
            <a:r>
              <a:rPr/>
              <a:t> The feeling of using these tools for the first time is amazing. But the “magic brain” metaphor is dangerous. A much safer and more useful metaphor is the “brilliant but untrustworthy intern.” You wouldn’t let an intern publish a report without checking it, right? Same thing here.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State the core lesson of Level 1 clearly, breaking it into two distinct points. </a:t>
            </a:r>
            <a:r>
              <a:rPr b="1"/>
              <a:t>Timing:</a:t>
            </a:r>
            <a:r>
              <a:rPr/>
              <a:t> 1 minute. </a:t>
            </a:r>
            <a:r>
              <a:rPr b="1"/>
              <a:t>Emphasis:</a:t>
            </a:r>
            <a:r>
              <a:rPr/>
              <a:t> This is the foundational loop. Prompt, get an output, and then go verify it. Never skip the second step.</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Break the CARE framework into four separate, digestible slides. This gives each concept space and prevents overflow. </a:t>
            </a:r>
            <a:r>
              <a:rPr b="1"/>
              <a:t>Timing:</a:t>
            </a:r>
            <a:r>
              <a:rPr/>
              <a:t> 4 minutes (1 per slide). </a:t>
            </a:r>
            <a:r>
              <a:rPr b="1"/>
              <a:t>Emphasis:</a:t>
            </a:r>
            <a:r>
              <a:rPr/>
              <a:t> We’ll go through this one by one. Each part you add to your prompt makes the AI’s job easier and your result better.</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Provide a flexible exercise for learners to practice CARE in their own domain. </a:t>
            </a:r>
            <a:r>
              <a:rPr b="1"/>
              <a:t>Timing:</a:t>
            </a:r>
            <a:r>
              <a:rPr/>
              <a:t> 5 minutes. </a:t>
            </a:r>
            <a:r>
              <a:rPr b="1"/>
              <a:t>Emphasis:</a:t>
            </a:r>
            <a:r>
              <a:rPr/>
              <a:t> The detailed prompt from the last version is in your notes here: </a:t>
            </a:r>
            <a:r>
              <a:rPr>
                <a:latin typeface="Courier"/>
              </a:rPr>
              <a:t>You are a sustainability consultant. Explain 'Scope 3 emissions' to a group of supply chain managers in simple, actionable terms. The explanation should be in three paragraphs.</a:t>
            </a:r>
            <a:r>
              <a:rPr/>
              <a:t>. Encourage learners to build their own. The key is to practice, even with a simple topic.</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Split the risk and the solution into two slides for clarity. </a:t>
            </a:r>
            <a:r>
              <a:rPr b="1"/>
              <a:t>Timing:</a:t>
            </a:r>
            <a:r>
              <a:rPr/>
              <a:t> 2 minutes. </a:t>
            </a:r>
            <a:r>
              <a:rPr b="1"/>
              <a:t>Emphasis:</a:t>
            </a:r>
            <a:r>
              <a:rPr/>
              <a:t> First, understand the risk: the AI will lie. Now, understand your defense: you are the fact-checker. This is the core discipline of a Level 1 user.</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Summarize the shift in identity and skill for Level 1. </a:t>
            </a:r>
            <a:r>
              <a:rPr b="1"/>
              <a:t>Timing:</a:t>
            </a:r>
            <a:r>
              <a:rPr/>
              <a:t> 1 minute. </a:t>
            </a:r>
            <a:r>
              <a:rPr b="1"/>
              <a:t>Emphasis:</a:t>
            </a:r>
            <a:r>
              <a:rPr/>
              <a:t> You’ve made a huge shift. You’ve gone from taking information as given to actively constructing and verifying your understanding. This is the foundation for everything that follows.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Define the second module, tying it directly to the Level 2 concept. </a:t>
            </a:r>
            <a:r>
              <a:rPr b="1"/>
              <a:t>Timing:</a:t>
            </a:r>
            <a:r>
              <a:rPr/>
              <a:t> 1 minute. </a:t>
            </a:r>
            <a:r>
              <a:rPr b="1"/>
              <a:t>Emphasis:</a:t>
            </a:r>
            <a:r>
              <a:rPr/>
              <a:t> Welcome to Level 2. At Level 1, we found sources to check the AI. At Level 2, we flip that. We start with a collection of trusted sources and use the AI to help us understand them more deeply.</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Create a strong visual metaphor for the value proposition of Level 2. </a:t>
            </a:r>
            <a:r>
              <a:rPr b="1"/>
              <a:t>Timing:</a:t>
            </a:r>
            <a:r>
              <a:rPr/>
              <a:t> 2 minutes. </a:t>
            </a:r>
            <a:r>
              <a:rPr b="1"/>
              <a:t>Emphasis:</a:t>
            </a:r>
            <a:r>
              <a:rPr/>
              <a:t> We’ve all been in the “pile of PDFs” situation. It’s stressful and inefficient. Level 2 is about moving to a structured, orderly way of managing your information.</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Introduce the “Source Register” as the core practical tool for Level 2. </a:t>
            </a:r>
            <a:r>
              <a:rPr b="1"/>
              <a:t>Timing:</a:t>
            </a:r>
            <a:r>
              <a:rPr/>
              <a:t> 3 minutes. </a:t>
            </a:r>
            <a:r>
              <a:rPr b="1"/>
              <a:t>Emphasis:</a:t>
            </a:r>
            <a:r>
              <a:rPr/>
              <a:t> This is the key tool for Level 2. It’s simple but powerful. For every document you decide is important, you add it to your register and use AI to summarize it. This act forces discipline.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Break the advanced prompts into three separate, focused slides. </a:t>
            </a:r>
            <a:r>
              <a:rPr b="1"/>
              <a:t>Timing:</a:t>
            </a:r>
            <a:r>
              <a:rPr/>
              <a:t> 3 minutes (1 per slide). </a:t>
            </a:r>
            <a:r>
              <a:rPr b="1"/>
              <a:t>Emphasis:</a:t>
            </a:r>
            <a:r>
              <a:rPr/>
              <a:t> This is where Level 2 gets really powerful. You’re no longer just asking the AI about general knowledge. You’re asking it to perform specific analytical tasks on </a:t>
            </a:r>
            <a:r>
              <a:rPr i="1"/>
              <a:t>your</a:t>
            </a:r>
            <a:r>
              <a:rPr/>
              <a:t> trusted set of documents.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A practical, hands-on exercise to simulate the Level 2 workflow. The detailed prompt is in your notes: </a:t>
            </a:r>
            <a:r>
              <a:rPr>
                <a:latin typeface="Courier"/>
              </a:rPr>
              <a:t>"Using only the three provided texts on cobalt mining, what is the main point of agreement between them regarding environmental impact? What is the main point of disagreement regarding labor practices?"</a:t>
            </a:r>
            <a:r>
              <a:rPr/>
              <a:t> </a:t>
            </a:r>
            <a:r>
              <a:rPr b="1"/>
              <a:t>Timing:</a:t>
            </a:r>
            <a:r>
              <a:rPr/>
              <a:t> 10 minutes. </a:t>
            </a:r>
            <a:r>
              <a:rPr b="1"/>
              <a:t>Emphasis:</a:t>
            </a:r>
            <a:r>
              <a:rPr/>
              <a:t> Let’s try this in a controlled way. The key is to direct the AI to work </a:t>
            </a:r>
            <a:r>
              <a:rPr i="1"/>
              <a:t>only</a:t>
            </a:r>
            <a:r>
              <a:rPr/>
              <a:t> with the documents you provide. This keeps it grounded in your curated reality.</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Split the risk and solution into two slides. </a:t>
            </a:r>
            <a:r>
              <a:rPr b="1"/>
              <a:t>Timing:</a:t>
            </a:r>
            <a:r>
              <a:rPr/>
              <a:t> 2 minutes. </a:t>
            </a:r>
            <a:r>
              <a:rPr b="1"/>
              <a:t>Emphasis:</a:t>
            </a:r>
            <a:r>
              <a:rPr/>
              <a:t> At Level 2, the risk of hallucination goes down, but the risk of bias goes up. Your responsibility shifts from fact-checker to librarian. Are you building a diverse library or an echo chamber?</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Summarize the identity shift for Level 2. </a:t>
            </a:r>
            <a:r>
              <a:rPr b="1"/>
              <a:t>Timing:</a:t>
            </a:r>
            <a:r>
              <a:rPr/>
              <a:t> 1 minute. </a:t>
            </a:r>
            <a:r>
              <a:rPr b="1"/>
              <a:t>Emphasis:</a:t>
            </a:r>
            <a:r>
              <a:rPr/>
              <a:t> This is a major step up. You are actively building the ‘ground truth’ that you will work from. You are in control of the library.</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Introduce the next major leap: working with structured data and code. </a:t>
            </a:r>
            <a:r>
              <a:rPr b="1"/>
              <a:t>Timing:</a:t>
            </a:r>
            <a:r>
              <a:rPr/>
              <a:t> 1 minute. </a:t>
            </a:r>
            <a:r>
              <a:rPr b="1"/>
              <a:t>Emphasis:</a:t>
            </a:r>
            <a:r>
              <a:rPr/>
              <a:t> Welcome to Level 3. So far, we’ve worked with text. Now, we’re going to use AI to work with our own project data to generate new evidence.</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Create a powerful visual hook showing the “before and after” of using AI for data analysis. </a:t>
            </a:r>
            <a:r>
              <a:rPr b="1"/>
              <a:t>Timing:</a:t>
            </a:r>
            <a:r>
              <a:rPr/>
              <a:t> 2 minutes. </a:t>
            </a:r>
            <a:r>
              <a:rPr b="1"/>
              <a:t>Emphasis:</a:t>
            </a:r>
            <a:r>
              <a:rPr/>
              <a:t> We’ve all been there: staring at a massive spreadsheet, feeling lost. Level 3 is about learning how to use AI as a translator between your questions and the code needed to get answers.</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Break the workflow into a separate slide. </a:t>
            </a:r>
            <a:r>
              <a:rPr b="1"/>
              <a:t>Timing:</a:t>
            </a:r>
            <a:r>
              <a:rPr/>
              <a:t> 3 minutes. </a:t>
            </a:r>
            <a:r>
              <a:rPr b="1"/>
              <a:t>Emphasis:</a:t>
            </a:r>
            <a:r>
              <a:rPr/>
              <a:t> This is the crucial concept for Level 3. You are the project manager; the AI is the junior developer. You provide the instructions and review the work.</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Break the demo into sequential steps, each on its own slide. </a:t>
            </a:r>
            <a:r>
              <a:rPr b="1"/>
              <a:t>Timing:</a:t>
            </a:r>
            <a:r>
              <a:rPr/>
              <a:t> 3 minutes (1 per slide). </a:t>
            </a:r>
            <a:r>
              <a:rPr b="1"/>
              <a:t>Emphasis:</a:t>
            </a:r>
            <a:r>
              <a:rPr/>
              <a:t> Watch how the conversation builds. We go from understanding the data, to analyzing it, to visualizing it. Each step is a simple, clear request.</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Split the risk and solution. </a:t>
            </a:r>
            <a:r>
              <a:rPr b="1"/>
              <a:t>Timing:</a:t>
            </a:r>
            <a:r>
              <a:rPr/>
              <a:t> 2 minutes. </a:t>
            </a:r>
            <a:r>
              <a:rPr b="1"/>
              <a:t>Emphasis:</a:t>
            </a:r>
            <a:r>
              <a:rPr/>
              <a:t> The risk changes. It’s not just fake text, it’s flawed logic. Your job is not to be a master coder, but a skeptical reviewer. Does the result pass the common-sense test?</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Summarize the powerful identity shift for Level 3. </a:t>
            </a:r>
            <a:r>
              <a:rPr b="1"/>
              <a:t>Timing:</a:t>
            </a:r>
            <a:r>
              <a:rPr/>
              <a:t> 1 minute. </a:t>
            </a:r>
            <a:r>
              <a:rPr b="1"/>
              <a:t>Emphasis:</a:t>
            </a:r>
            <a:r>
              <a:rPr/>
              <a:t> You are now creating your own evidence directly from raw data. You are moving from a consumer of information to a producer of it.</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Introduce the concept of automation and workflow thinking. </a:t>
            </a:r>
            <a:r>
              <a:rPr b="1"/>
              <a:t>Timing:</a:t>
            </a:r>
            <a:r>
              <a:rPr/>
              <a:t> 1 minute. </a:t>
            </a:r>
            <a:r>
              <a:rPr b="1"/>
              <a:t>Emphasis:</a:t>
            </a:r>
            <a:r>
              <a:rPr/>
              <a:t> Welcome to Level 4. We’ve been doing everything manually. Now we learn to build simple automations that run on their own. This is where we get our time back at scale.</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Use a universally painful and relatable example to motivate the need for workflow automation. </a:t>
            </a:r>
            <a:r>
              <a:rPr b="1"/>
              <a:t>Timing:</a:t>
            </a:r>
            <a:r>
              <a:rPr/>
              <a:t> 2 minutes. </a:t>
            </a:r>
            <a:r>
              <a:rPr b="1"/>
              <a:t>Emphasis:</a:t>
            </a:r>
            <a:r>
              <a:rPr/>
              <a:t> We all have tasks like this. They are low-value, repetitive, and drain our energy. These are the tasks that are ripe for a Level 4 workflow.</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Break the Trigger-Steps-Output model into separate slides. </a:t>
            </a:r>
            <a:r>
              <a:rPr b="1"/>
              <a:t>Timing:</a:t>
            </a:r>
            <a:r>
              <a:rPr/>
              <a:t> 3 minutes. </a:t>
            </a:r>
            <a:r>
              <a:rPr b="1"/>
              <a:t>Emphasis:</a:t>
            </a:r>
            <a:r>
              <a:rPr/>
              <a:t> This is the core mental model for Level 4. Every process can be broken down this way. This lets you see your work as a series of systems you can design.</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A non-technical exercise that teaches the core skill of workflow design. The detailed examples are in your notes: </a:t>
            </a:r>
            <a:r>
              <a:rPr i="1"/>
              <a:t>Student Example: Get a daily alert with the latest price of a specific commodity (e.g., cobalt, lithium) and use an AI to summarize any news related to its pricing. Professional Example: Monitor a specific list of suppliers. When a news article mentions a supplier, save the article and use an AI to classify its sentiment (positive, negative, neutral).</a:t>
            </a:r>
            <a:r>
              <a:rPr/>
              <a:t> </a:t>
            </a:r>
            <a:r>
              <a:rPr b="1"/>
              <a:t>Timing:</a:t>
            </a:r>
            <a:r>
              <a:rPr/>
              <a:t> 10 minutes. </a:t>
            </a:r>
            <a:r>
              <a:rPr b="1"/>
              <a:t>Emphasis:</a:t>
            </a:r>
            <a:r>
              <a:rPr/>
              <a:t> The most important work happens on paper. The goal is to develop the habit of seeing your work as a process.</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Split risk and solution. </a:t>
            </a:r>
            <a:r>
              <a:rPr b="1"/>
              <a:t>Timing:</a:t>
            </a:r>
            <a:r>
              <a:rPr/>
              <a:t> 2 minutes. </a:t>
            </a:r>
            <a:r>
              <a:rPr b="1"/>
              <a:t>Emphasis:</a:t>
            </a:r>
            <a:r>
              <a:rPr/>
              <a:t> The risk is now more subtle. It’s not a wrong answer, but a process that fails without telling you. Trust in your automation is only earned through verification.</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Summarize the powerful identity shift for Level 4. </a:t>
            </a:r>
            <a:r>
              <a:rPr b="1"/>
              <a:t>Timing:</a:t>
            </a:r>
            <a:r>
              <a:rPr/>
              <a:t> 1 minute. </a:t>
            </a:r>
            <a:r>
              <a:rPr b="1"/>
              <a:t>Emphasis:</a:t>
            </a:r>
            <a:r>
              <a:rPr/>
              <a:t> This is a profound shift. You’re moving from being an actor </a:t>
            </a:r>
            <a:r>
              <a:rPr i="1"/>
              <a:t>in</a:t>
            </a:r>
            <a:r>
              <a:rPr/>
              <a:t> the process to being the designer </a:t>
            </a:r>
            <a:r>
              <a:rPr i="1"/>
              <a:t>of</a:t>
            </a:r>
            <a:r>
              <a:rPr/>
              <a:t> the process.</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Introduce the final level of the journey: building tools for other people. </a:t>
            </a:r>
            <a:r>
              <a:rPr b="1"/>
              <a:t>Timing:</a:t>
            </a:r>
            <a:r>
              <a:rPr/>
              <a:t> 1 minute. </a:t>
            </a:r>
            <a:r>
              <a:rPr b="1"/>
              <a:t>Emphasis:</a:t>
            </a:r>
            <a:r>
              <a:rPr/>
              <a:t> Welcome to the final level. We now turn outward. We use our skills to build simple AI-enabled solutions that help our team, our clients, or our community.</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Show the evolution from a personal hack to a scalable team solution. </a:t>
            </a:r>
            <a:r>
              <a:rPr b="1"/>
              <a:t>Timing:</a:t>
            </a:r>
            <a:r>
              <a:rPr/>
              <a:t> 2 minutes. </a:t>
            </a:r>
            <a:r>
              <a:rPr b="1"/>
              <a:t>Emphasis:</a:t>
            </a:r>
            <a:r>
              <a:rPr/>
              <a:t> Look at the difference. One is a great trick to make your own life easier. The other is a tool that empowers your entire team. This is the essence of the Level 5 shift.</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Break the three “Designing for Trust” points into separate slides. </a:t>
            </a:r>
            <a:r>
              <a:rPr b="1"/>
              <a:t>Timing:</a:t>
            </a:r>
            <a:r>
              <a:rPr/>
              <a:t> 3 minutes. </a:t>
            </a:r>
            <a:r>
              <a:rPr b="1"/>
              <a:t>Emphasis:</a:t>
            </a:r>
            <a:r>
              <a:rPr/>
              <a:t> These are the three pillars of a trustworthy AI system. Ground it in facts, make it show its sources, and always let the human have the final say.</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A final reflection exercise to get learners thinking like a Level 5 designer. </a:t>
            </a:r>
            <a:r>
              <a:rPr b="1"/>
              <a:t>Timing:</a:t>
            </a:r>
            <a:r>
              <a:rPr/>
              <a:t> 5 minutes. </a:t>
            </a:r>
            <a:r>
              <a:rPr b="1"/>
              <a:t>Emphasis:</a:t>
            </a:r>
            <a:r>
              <a:rPr/>
              <a:t> Let’s dream a little. Think of a real problem you or your team faces. If you could build a simple AI assistant to solve it, what would it look like? Who would it help? And most importantly, how would you make it trustworthy?</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Split the risk and solution. </a:t>
            </a:r>
            <a:r>
              <a:rPr b="1"/>
              <a:t>Timing:</a:t>
            </a:r>
            <a:r>
              <a:rPr/>
              <a:t> 2 minutes. </a:t>
            </a:r>
            <a:r>
              <a:rPr b="1"/>
              <a:t>Emphasis:</a:t>
            </a:r>
            <a:r>
              <a:rPr/>
              <a:t> At this level, the stakes are highest. A bug in your personal script is an annoyance. A bug in a system used by 100 people is a major problem. This is why thinking about governance and feedback loops is a core part of the design process.</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Summarize the final identity shift in the journey. </a:t>
            </a:r>
            <a:r>
              <a:rPr b="1"/>
              <a:t>Timing:</a:t>
            </a:r>
            <a:r>
              <a:rPr/>
              <a:t> 1 minute. </a:t>
            </a:r>
            <a:r>
              <a:rPr b="1"/>
              <a:t>Emphasis:</a:t>
            </a:r>
            <a:r>
              <a:rPr/>
              <a:t> This is the peak of our journey. You’ve gone from a user of AI to a creator of AI-enabled solutions. You’re not just thinking about features; you’re thinking about impact and responsibility.</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Break the recap into five distinct, quick slides to reinforce the identity shift at each level. </a:t>
            </a:r>
            <a:r>
              <a:rPr b="1"/>
              <a:t>Timing:</a:t>
            </a:r>
            <a:r>
              <a:rPr/>
              <a:t> 2 minutes. </a:t>
            </a:r>
            <a:r>
              <a:rPr b="1"/>
              <a:t>Emphasis:</a:t>
            </a:r>
            <a:r>
              <a:rPr/>
              <a:t> Let’s look back at how far we’ve come. Each level gave you more power and more responsibility. This framework is your guide for continuing to learn.</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End on a positive and encouraging note. </a:t>
            </a:r>
            <a:r>
              <a:rPr b="1"/>
              <a:t>Timing:</a:t>
            </a:r>
            <a:r>
              <a:rPr/>
              <a:t> 1 minute. </a:t>
            </a:r>
            <a:r>
              <a:rPr b="1"/>
              <a:t>Emphasis:</a:t>
            </a:r>
            <a:r>
              <a:rPr/>
              <a:t> Thank you for your time and participation. This is an exciting field, and you now have a map to navigate it effectively and responsibly. Good luck.</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1.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8.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0.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The AI Learning Journey</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From Aware User to System Designer</a:t>
            </a:r>
            <a:br/>
            <a:br/>
            <a:r>
              <a:rPr/>
              <a:t>AI Instructional Designer</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Introduction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Goal of Our Journey</a:t>
            </a:r>
          </a:p>
        </p:txBody>
      </p:sp>
      <p:sp>
        <p:nvSpPr>
          <p:cNvPr id="3" name="Content Placeholder 2"/>
          <p:cNvSpPr>
            <a:spLocks noGrp="1"/>
          </p:cNvSpPr>
          <p:nvPr>
            <p:ph idx="1"/>
          </p:nvPr>
        </p:nvSpPr>
        <p:spPr/>
        <p:txBody>
          <a:bodyPr/>
          <a:lstStyle/>
          <a:p>
            <a:pPr lvl="0" indent="0" marL="0">
              <a:buNone/>
            </a:pPr>
            <a:r>
              <a:rPr/>
              <a:t> Our goal is to move through </a:t>
            </a:r>
            <a:r>
              <a:rPr b="1"/>
              <a:t>five levels of AI capability</a:t>
            </a:r>
            <a:r>
              <a:rPr/>
              <a:t>.</a:t>
            </a:r>
          </a:p>
          <a:p>
            <a:pPr lvl="0" indent="0" marL="0">
              <a:buNone/>
            </a:pPr>
            <a:r>
              <a:rPr/>
              <a:t>We will go from being passive consumers of information to active, critical designers of AI-enabled systems.</a:t>
            </a:r>
          </a:p>
          <a:p>
            <a:pPr lvl="0" indent="0" marL="0">
              <a:buNone/>
            </a:pPr>
            <a:r>
              <a:rPr/>
              <a:t>This is a journey of increasing agency and “truth-seeking.”</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Five Levels of AI Usage</a:t>
            </a:r>
          </a:p>
        </p:txBody>
      </p:sp>
      <p:sp>
        <p:nvSpPr>
          <p:cNvPr id="3" name="Content Placeholder 2"/>
          <p:cNvSpPr>
            <a:spLocks noGrp="1"/>
          </p:cNvSpPr>
          <p:nvPr>
            <p:ph idx="1"/>
          </p:nvPr>
        </p:nvSpPr>
        <p:spPr/>
        <p:txBody>
          <a:bodyPr/>
          <a:lstStyle/>
          <a:p>
            <a:pPr lvl="0" indent="0" marL="0">
              <a:buNone/>
            </a:pPr>
            <a:r>
              <a:rPr/>
              <a:t>A progressive journey of capability:</a:t>
            </a:r>
          </a:p>
          <a:p>
            <a:pPr lvl="0" indent="0" marL="0">
              <a:buNone/>
            </a:pPr>
            <a:r>
              <a:rPr/>
              <a:t>. . .</a:t>
            </a:r>
          </a:p>
          <a:p>
            <a:pPr lvl="0"/>
            <a:r>
              <a:rPr b="1"/>
              <a:t>Level 1: Aware Chat User</a:t>
            </a:r>
          </a:p>
          <a:p>
            <a:pPr lvl="1"/>
            <a:r>
              <a:rPr i="1"/>
              <a:t>From “AI says so” → “AI helps me start”</a:t>
            </a:r>
          </a:p>
          <a:p>
            <a:pPr lvl="0" indent="0" marL="0">
              <a:buNone/>
            </a:pPr>
            <a:r>
              <a:rPr/>
              <a:t>. . .</a:t>
            </a:r>
          </a:p>
          <a:p>
            <a:pPr lvl="0"/>
            <a:r>
              <a:rPr b="1"/>
              <a:t>Level 2: Source Curator</a:t>
            </a:r>
          </a:p>
          <a:p>
            <a:pPr lvl="1"/>
            <a:r>
              <a:rPr i="1"/>
              <a:t>From “random docs” → “my curated knowledge base”</a:t>
            </a:r>
          </a:p>
          <a:p>
            <a:pPr lvl="0" indent="0" marL="0">
              <a:buNone/>
            </a:pPr>
            <a:r>
              <a:rPr/>
              <a:t>. . .</a:t>
            </a:r>
          </a:p>
          <a:p>
            <a:pPr lvl="0"/>
            <a:r>
              <a:rPr b="1"/>
              <a:t>Level 3: Augmented Analyst</a:t>
            </a:r>
          </a:p>
          <a:p>
            <a:pPr lvl="1"/>
            <a:r>
              <a:rPr i="1"/>
              <a:t>From “text” → “my own data &amp; code”</a:t>
            </a:r>
          </a:p>
          <a:p>
            <a:pPr lvl="0" indent="0" marL="0">
              <a:buNone/>
            </a:pPr>
            <a:r>
              <a:rPr/>
              <a:t>. . .</a:t>
            </a:r>
          </a:p>
          <a:p>
            <a:pPr lvl="0"/>
            <a:r>
              <a:rPr b="1"/>
              <a:t>Level 4: Workflow Engineer</a:t>
            </a:r>
          </a:p>
          <a:p>
            <a:pPr lvl="1"/>
            <a:r>
              <a:rPr i="1"/>
              <a:t>From “one-off tasks” → “repeatable workflows”</a:t>
            </a:r>
          </a:p>
          <a:p>
            <a:pPr lvl="0" indent="0" marL="0">
              <a:buNone/>
            </a:pPr>
            <a:r>
              <a:rPr/>
              <a:t>. . .</a:t>
            </a:r>
          </a:p>
          <a:p>
            <a:pPr lvl="0"/>
            <a:r>
              <a:rPr b="1"/>
              <a:t>Level 5: System Designer</a:t>
            </a:r>
          </a:p>
          <a:p>
            <a:pPr lvl="1"/>
            <a:r>
              <a:rPr i="1"/>
              <a:t>From “AI helps me” → “AI is part of my solution”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 1: The Foundations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1: Becoming an Aware AI User (Level 1)</a:t>
            </a:r>
          </a:p>
        </p:txBody>
      </p:sp>
      <p:sp>
        <p:nvSpPr>
          <p:cNvPr id="3" name="Content Placeholder 2"/>
          <p:cNvSpPr>
            <a:spLocks noGrp="1"/>
          </p:cNvSpPr>
          <p:nvPr>
            <p:ph idx="1"/>
          </p:nvPr>
        </p:nvSpPr>
        <p:spPr/>
        <p:txBody>
          <a:bodyPr/>
          <a:lstStyle/>
          <a:p>
            <a:pPr lvl="0" indent="0" marL="0">
              <a:buNone/>
            </a:pPr>
            <a:r>
              <a:rPr b="1"/>
              <a:t>The Shift:</a:t>
            </a:r>
            <a:r>
              <a:rPr/>
              <a:t> From “AI says so” → “AI helps me understand and find real sources.”</a:t>
            </a:r>
          </a:p>
          <a:p>
            <a:pPr lvl="0" indent="0" marL="0">
              <a:buNone/>
            </a:pPr>
            <a:r>
              <a:rPr b="1"/>
              <a:t>Core Skills:</a:t>
            </a:r>
            <a:r>
              <a:rPr/>
              <a:t> - Basic, effective prompting. - Verifying AI output with real sources. - Seeing AI as a starting point, not a final answer.</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Hook: Magic vs. Reality</a:t>
            </a:r>
          </a:p>
        </p:txBody>
      </p:sp>
      <p:sp>
        <p:nvSpPr>
          <p:cNvPr id="3" name="Content Placeholder 2"/>
          <p:cNvSpPr>
            <a:spLocks noGrp="1"/>
          </p:cNvSpPr>
          <p:nvPr>
            <p:ph idx="1" sz="half"/>
          </p:nvPr>
        </p:nvSpPr>
        <p:spPr/>
        <p:txBody>
          <a:bodyPr/>
          <a:lstStyle/>
          <a:p>
            <a:pPr lvl="0" indent="0" marL="0">
              <a:spcBef>
                <a:spcPts val="3000"/>
              </a:spcBef>
              <a:buNone/>
            </a:pPr>
            <a:r>
              <a:rPr b="1"/>
              <a:t>The “Magic Brain”</a:t>
            </a:r>
          </a:p>
          <a:p>
            <a:pPr lvl="0" indent="0" marL="0">
              <a:buNone/>
            </a:pPr>
            <a:r>
              <a:rPr/>
              <a:t>We ask a question… a confident, well-written answer appears. It feels like magic.</a:t>
            </a:r>
          </a:p>
          <a:p>
            <a:pPr lvl="0" indent="0" marL="0">
              <a:buNone/>
            </a:pPr>
            <a:r>
              <a:rPr b="1"/>
              <a:t>The Danger:</a:t>
            </a:r>
            <a:r>
              <a:rPr/>
              <a:t> Believing it without question.</a:t>
            </a:r>
          </a:p>
        </p:txBody>
      </p:sp>
      <p:sp>
        <p:nvSpPr>
          <p:cNvPr id="4" name="Content Placeholder 3"/>
          <p:cNvSpPr>
            <a:spLocks noGrp="1"/>
          </p:cNvSpPr>
          <p:nvPr>
            <p:ph idx="2" sz="half"/>
          </p:nvPr>
        </p:nvSpPr>
        <p:spPr/>
        <p:txBody>
          <a:bodyPr/>
          <a:lstStyle/>
          <a:p>
            <a:pPr lvl="0" indent="0" marL="0">
              <a:spcBef>
                <a:spcPts val="3000"/>
              </a:spcBef>
              <a:buNone/>
            </a:pPr>
            <a:r>
              <a:rPr b="1"/>
              <a:t>The “Untrustworthy Intern”</a:t>
            </a:r>
          </a:p>
          <a:p>
            <a:pPr lvl="0" indent="0" marL="0">
              <a:buNone/>
            </a:pPr>
            <a:r>
              <a:rPr/>
              <a:t>It’s brilliant, fast, and creative… but it has no real-world knowledge and sometimes makes things up to please you.</a:t>
            </a:r>
          </a:p>
          <a:p>
            <a:pPr lvl="0" indent="0" marL="0">
              <a:buNone/>
            </a:pPr>
            <a:r>
              <a:rPr b="1"/>
              <a:t>The Power:</a:t>
            </a:r>
            <a:r>
              <a:rPr/>
              <a:t> Using its output as a draft to be checked.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Core Lesson: Prompting &amp; Verification</a:t>
            </a:r>
          </a:p>
        </p:txBody>
      </p:sp>
      <p:sp>
        <p:nvSpPr>
          <p:cNvPr id="3" name="Content Placeholder 2"/>
          <p:cNvSpPr>
            <a:spLocks noGrp="1"/>
          </p:cNvSpPr>
          <p:nvPr>
            <p:ph idx="1"/>
          </p:nvPr>
        </p:nvSpPr>
        <p:spPr/>
        <p:txBody>
          <a:bodyPr/>
          <a:lstStyle/>
          <a:p>
            <a:pPr lvl="0" indent="0" marL="0">
              <a:buNone/>
            </a:pPr>
            <a:r>
              <a:rPr/>
              <a:t>Your two core skills at Level 1 are </a:t>
            </a:r>
            <a:r>
              <a:rPr b="1"/>
              <a:t>Prompting</a:t>
            </a:r>
            <a:r>
              <a:rPr/>
              <a:t> and </a:t>
            </a:r>
            <a:r>
              <a:rPr b="1"/>
              <a:t>Verifying</a:t>
            </a:r>
            <a:r>
              <a:rPr/>
              <a:t>.</a:t>
            </a:r>
          </a:p>
          <a:p>
            <a:pPr lvl="0" indent="0" marL="0">
              <a:buNone/>
            </a:pPr>
            <a:r>
              <a:rPr/>
              <a:t>. . .</a:t>
            </a:r>
          </a:p>
          <a:p>
            <a:pPr lvl="0" indent="-342900" marL="342900">
              <a:buAutoNum type="arabicPeriod"/>
            </a:pPr>
            <a:r>
              <a:rPr b="1"/>
              <a:t>Prompting:</a:t>
            </a:r>
            <a:r>
              <a:rPr/>
              <a:t> Give clear, contextual instructions. We’ll use the </a:t>
            </a:r>
            <a:r>
              <a:rPr b="1"/>
              <a:t>CARE</a:t>
            </a:r>
            <a:r>
              <a:rPr/>
              <a:t> framework.</a:t>
            </a:r>
          </a:p>
          <a:p>
            <a:pPr lvl="0" indent="0" marL="0">
              <a:buNone/>
            </a:pPr>
            <a:r>
              <a:rPr/>
              <a:t>. . .</a:t>
            </a:r>
          </a:p>
          <a:p>
            <a:pPr lvl="0" indent="-342900" marL="342900">
              <a:buAutoNum startAt="2" type="arabicPeriod"/>
            </a:pPr>
            <a:r>
              <a:rPr b="1"/>
              <a:t>Verifying:</a:t>
            </a:r>
            <a:r>
              <a:rPr/>
              <a:t> Check the AI’s claims against real, primary sources.</a:t>
            </a:r>
          </a:p>
          <a:p>
            <a:pPr lvl="0" indent="0" marL="0">
              <a:buNone/>
            </a:pPr>
            <a:r>
              <a:rPr/>
              <a:t>This is the fundamental workflow of an aware AI user.</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CARE Prompting Framework</a:t>
            </a:r>
          </a:p>
        </p:txBody>
      </p:sp>
      <p:sp>
        <p:nvSpPr>
          <p:cNvPr id="3" name="Content Placeholder 2"/>
          <p:cNvSpPr>
            <a:spLocks noGrp="1"/>
          </p:cNvSpPr>
          <p:nvPr>
            <p:ph idx="1"/>
          </p:nvPr>
        </p:nvSpPr>
        <p:spPr/>
        <p:txBody>
          <a:bodyPr/>
          <a:lstStyle/>
          <a:p>
            <a:pPr lvl="0" indent="0" marL="0">
              <a:buNone/>
            </a:pPr>
            <a:r>
              <a:rPr/>
              <a:t>The best prompts give the AI everything it needs. To do this, we provide four kinds of information.</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 Context</a:t>
            </a:r>
          </a:p>
          <a:p>
            <a:pPr lvl="0" indent="0" marL="0">
              <a:buNone/>
            </a:pPr>
            <a:r>
              <a:rPr/>
              <a:t>Give the background information. Set the scene. Tell the AI what role to play.</a:t>
            </a:r>
          </a:p>
          <a:p>
            <a:pPr lvl="0" indent="0" marL="1270000">
              <a:buNone/>
            </a:pPr>
            <a:r>
              <a:rPr sz="2000" b="1"/>
              <a:t>“You are an expert financial analyst…”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Ask</a:t>
            </a:r>
          </a:p>
          <a:p>
            <a:pPr lvl="0" indent="0" marL="0">
              <a:buNone/>
            </a:pPr>
            <a:r>
              <a:rPr/>
              <a:t>State the specific task. What, exactly, do you want the AI to do?</a:t>
            </a:r>
          </a:p>
          <a:p>
            <a:pPr lvl="0" indent="0" marL="1270000">
              <a:buNone/>
            </a:pPr>
            <a:r>
              <a:rPr sz="2000" b="1"/>
              <a:t>“…Explain the concept of ‘net present value’…”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 Rules</a:t>
            </a:r>
          </a:p>
          <a:p>
            <a:pPr lvl="0" indent="0" marL="0">
              <a:buNone/>
            </a:pPr>
            <a:r>
              <a:rPr/>
              <a:t>Define the constraints. What format, length, or style should the AI follow?</a:t>
            </a:r>
          </a:p>
          <a:p>
            <a:pPr lvl="0" indent="0" marL="1270000">
              <a:buNone/>
            </a:pPr>
            <a:r>
              <a:rPr sz="2000" b="1"/>
              <a:t>“…Explain it in simple terms for a non-financial audience, under 200 words…”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 Examples</a:t>
            </a:r>
          </a:p>
          <a:p>
            <a:pPr lvl="0" indent="0" marL="0">
              <a:buNone/>
            </a:pPr>
            <a:r>
              <a:rPr/>
              <a:t>(Optional) Provide a model of the desired output. Show, don’t just tell.</a:t>
            </a:r>
          </a:p>
          <a:p>
            <a:pPr lvl="0" indent="0" marL="1270000">
              <a:buNone/>
            </a:pPr>
            <a:r>
              <a:rPr sz="2000" b="1"/>
              <a:t>“…For example, start with an analogy like ‘a dollar today is worth more than a dollar tomorrow.’”</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Applying CARE</a:t>
            </a:r>
          </a:p>
        </p:txBody>
      </p:sp>
      <p:sp>
        <p:nvSpPr>
          <p:cNvPr id="3" name="Content Placeholder 2"/>
          <p:cNvSpPr>
            <a:spLocks noGrp="1"/>
          </p:cNvSpPr>
          <p:nvPr>
            <p:ph idx="1"/>
          </p:nvPr>
        </p:nvSpPr>
        <p:spPr/>
        <p:txBody>
          <a:bodyPr/>
          <a:lstStyle/>
          <a:p>
            <a:pPr lvl="0" indent="0" marL="0">
              <a:buNone/>
            </a:pPr>
            <a:r>
              <a:rPr b="1"/>
              <a:t>Goal:</a:t>
            </a:r>
            <a:r>
              <a:rPr/>
              <a:t> Use CARE to get a clear explanation of a complex topic.</a:t>
            </a:r>
          </a:p>
          <a:p>
            <a:pPr lvl="0" indent="0" marL="0">
              <a:buNone/>
            </a:pPr>
            <a:r>
              <a:rPr b="1"/>
              <a:t>On-Slide Task:</a:t>
            </a:r>
            <a:r>
              <a:rPr/>
              <a:t> 1. </a:t>
            </a:r>
            <a:r>
              <a:rPr b="1"/>
              <a:t>Choose a topic</a:t>
            </a:r>
            <a:r>
              <a:rPr/>
              <a:t> (e.g., ‘Scope 3 emissions’, ‘circular economy’). 2. </a:t>
            </a:r>
            <a:r>
              <a:rPr b="1"/>
              <a:t>Craft a CARE prompt</a:t>
            </a:r>
            <a:r>
              <a:rPr/>
              <a:t> for a specific audience. 3. </a:t>
            </a:r>
            <a:r>
              <a:rPr b="1"/>
              <a:t>Run the prompt</a:t>
            </a:r>
            <a:r>
              <a:rPr/>
              <a:t> in an AI tool.</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“Sharp Edge” at Level 1: Hallucinations</a:t>
            </a:r>
          </a:p>
        </p:txBody>
      </p:sp>
      <p:sp>
        <p:nvSpPr>
          <p:cNvPr id="3" name="Content Placeholder 2"/>
          <p:cNvSpPr>
            <a:spLocks noGrp="1"/>
          </p:cNvSpPr>
          <p:nvPr>
            <p:ph idx="1"/>
          </p:nvPr>
        </p:nvSpPr>
        <p:spPr/>
        <p:txBody>
          <a:bodyPr/>
          <a:lstStyle/>
          <a:p>
            <a:pPr lvl="0" indent="0" marL="0">
              <a:buNone/>
            </a:pPr>
            <a:r>
              <a:rPr b="1"/>
              <a:t>The Risk:</a:t>
            </a:r>
            <a:r>
              <a:rPr/>
              <a:t> AI models confidently invent facts, sources, and data. They “hallucinate” because they are just predicting the next likely word, not stating known facts.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Truth-Seeking Angle (Level 1)</a:t>
            </a:r>
          </a:p>
        </p:txBody>
      </p:sp>
      <p:sp>
        <p:nvSpPr>
          <p:cNvPr id="3" name="Content Placeholder 2"/>
          <p:cNvSpPr>
            <a:spLocks noGrp="1"/>
          </p:cNvSpPr>
          <p:nvPr>
            <p:ph idx="1"/>
          </p:nvPr>
        </p:nvSpPr>
        <p:spPr/>
        <p:txBody>
          <a:bodyPr/>
          <a:lstStyle/>
          <a:p>
            <a:pPr lvl="0" indent="0" marL="0">
              <a:buNone/>
            </a:pPr>
            <a:r>
              <a:rPr/>
              <a:t>An aware user knows that </a:t>
            </a:r>
            <a:r>
              <a:rPr b="1"/>
              <a:t>Truth = AI Answer + Verification.</a:t>
            </a:r>
          </a:p>
          <a:p>
            <a:pPr lvl="0" indent="0" marL="0">
              <a:buNone/>
            </a:pPr>
            <a:r>
              <a:rPr/>
              <a:t>Your first defense against a “dead internet” of fake content is to </a:t>
            </a:r>
            <a:r>
              <a:rPr b="1"/>
              <a:t>always click the link and check the source.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Empowering Takeaway (Level 1)</a:t>
            </a:r>
          </a:p>
        </p:txBody>
      </p:sp>
      <p:sp>
        <p:nvSpPr>
          <p:cNvPr id="3" name="Content Placeholder 2"/>
          <p:cNvSpPr>
            <a:spLocks noGrp="1"/>
          </p:cNvSpPr>
          <p:nvPr>
            <p:ph idx="1"/>
          </p:nvPr>
        </p:nvSpPr>
        <p:spPr/>
        <p:txBody>
          <a:bodyPr/>
          <a:lstStyle/>
          <a:p>
            <a:pPr lvl="0" indent="0" marL="1270000">
              <a:buNone/>
            </a:pPr>
            <a:r>
              <a:rPr sz="2000"/>
              <a:t>I am no longer just a passive searcher. I am an active investigator who uses AI to generate hypotheses and starting points, which I then confirm with real evidence.</a:t>
            </a:r>
          </a:p>
          <a:p>
            <a:pPr lvl="0" indent="0" marL="0">
              <a:buNone/>
            </a:pPr>
            <a:r>
              <a:rPr/>
              <a:t>This is the first step to taking control.</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2: Becoming a Source Curator (Level 2)</a:t>
            </a:r>
          </a:p>
        </p:txBody>
      </p:sp>
      <p:sp>
        <p:nvSpPr>
          <p:cNvPr id="3" name="Content Placeholder 2"/>
          <p:cNvSpPr>
            <a:spLocks noGrp="1"/>
          </p:cNvSpPr>
          <p:nvPr>
            <p:ph idx="1"/>
          </p:nvPr>
        </p:nvSpPr>
        <p:spPr/>
        <p:txBody>
          <a:bodyPr/>
          <a:lstStyle/>
          <a:p>
            <a:pPr lvl="0" indent="0" marL="0">
              <a:buNone/>
            </a:pPr>
            <a:r>
              <a:rPr b="1"/>
              <a:t>The Shift:</a:t>
            </a:r>
            <a:r>
              <a:rPr/>
              <a:t> From “random docs” → “my own curated, documented knowledge base.”</a:t>
            </a:r>
          </a:p>
          <a:p>
            <a:pPr lvl="0" indent="0" marL="0">
              <a:buNone/>
            </a:pPr>
            <a:r>
              <a:rPr b="1"/>
              <a:t>Core Skills:</a:t>
            </a:r>
            <a:r>
              <a:rPr/>
              <a:t> - Systematic source collection and maintenance. - Using AI to analyze your curated sources.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Hook: A Pile of PDFs vs. A Knowledge Base</a:t>
            </a:r>
          </a:p>
        </p:txBody>
      </p:sp>
      <p:sp>
        <p:nvSpPr>
          <p:cNvPr id="3" name="Content Placeholder 2"/>
          <p:cNvSpPr>
            <a:spLocks noGrp="1"/>
          </p:cNvSpPr>
          <p:nvPr>
            <p:ph idx="1" sz="half"/>
          </p:nvPr>
        </p:nvSpPr>
        <p:spPr/>
        <p:txBody>
          <a:bodyPr/>
          <a:lstStyle/>
          <a:p>
            <a:pPr lvl="0" indent="0" marL="0">
              <a:spcBef>
                <a:spcPts val="3000"/>
              </a:spcBef>
              <a:buNone/>
            </a:pPr>
            <a:r>
              <a:rPr b="1"/>
              <a:t>The Chaos</a:t>
            </a:r>
          </a:p>
          <a:p>
            <a:pPr lvl="0" indent="0" marL="0">
              <a:buNone/>
            </a:pPr>
            <a:r>
              <a:rPr/>
              <a:t>A folder full of randomly named PDFs. You know the information is in there somewhere… but where?</a:t>
            </a:r>
          </a:p>
        </p:txBody>
      </p:sp>
      <p:sp>
        <p:nvSpPr>
          <p:cNvPr id="4" name="Content Placeholder 3"/>
          <p:cNvSpPr>
            <a:spLocks noGrp="1"/>
          </p:cNvSpPr>
          <p:nvPr>
            <p:ph idx="2" sz="half"/>
          </p:nvPr>
        </p:nvSpPr>
        <p:spPr/>
        <p:txBody>
          <a:bodyPr/>
          <a:lstStyle/>
          <a:p>
            <a:pPr lvl="0" indent="0" marL="0">
              <a:spcBef>
                <a:spcPts val="3000"/>
              </a:spcBef>
              <a:buNone/>
            </a:pPr>
            <a:r>
              <a:rPr b="1"/>
              <a:t>The Order</a:t>
            </a:r>
          </a:p>
          <a:p>
            <a:pPr lvl="0" indent="0" marL="0">
              <a:buNone/>
            </a:pPr>
            <a:r>
              <a:rPr/>
              <a:t>A structured list of your sources, each with a clear summary and analysis. You can find what you need in seconds.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Core Lesson: The Source Register</a:t>
            </a:r>
          </a:p>
        </p:txBody>
      </p:sp>
      <p:sp>
        <p:nvSpPr>
          <p:cNvPr id="4" name="Text Placeholder 3"/>
          <p:cNvSpPr>
            <a:spLocks noGrp="1"/>
          </p:cNvSpPr>
          <p:nvPr>
            <p:ph idx="2" sz="half" type="body"/>
          </p:nvPr>
        </p:nvSpPr>
        <p:spPr/>
        <p:txBody>
          <a:bodyPr/>
          <a:lstStyle/>
          <a:p>
            <a:pPr lvl="0" indent="0" marL="0">
              <a:buNone/>
            </a:pPr>
            <a:r>
              <a:rPr/>
              <a:t>A Source Register is a simple table where you track your sources. You use AI to help you fill in the summary column for each trusted document.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Source</a:t>
                      </a:r>
                    </a:p>
                  </a:txBody>
                  <a:tcPr/>
                </a:tc>
                <a:tc>
                  <a:txBody>
                    <a:bodyPr/>
                    <a:lstStyle/>
                    <a:p>
                      <a:pPr lvl="0" indent="0" marL="0">
                        <a:buNone/>
                      </a:pPr>
                      <a:r>
                        <a:rPr/>
                        <a:t>Organization</a:t>
                      </a:r>
                    </a:p>
                  </a:txBody>
                  <a:tcPr/>
                </a:tc>
                <a:tc>
                  <a:txBody>
                    <a:bodyPr/>
                    <a:lstStyle/>
                    <a:p>
                      <a:pPr lvl="0" indent="0" marL="0">
                        <a:buNone/>
                      </a:pPr>
                      <a:r>
                        <a:rPr/>
                        <a:t>AI-Generated Summary</a:t>
                      </a:r>
                    </a:p>
                  </a:txBody>
                  <a:tcPr/>
                </a:tc>
              </a:tr>
              <a:tr h="0">
                <a:tc>
                  <a:txBody>
                    <a:bodyPr/>
                    <a:lstStyle/>
                    <a:p>
                      <a:pPr lvl="0" indent="0" marL="0">
                        <a:buNone/>
                      </a:pPr>
                      <a:r>
                        <a:rPr/>
                        <a:t>“Future of Supply Chains Report”</a:t>
                      </a:r>
                    </a:p>
                  </a:txBody>
                </a:tc>
                <a:tc>
                  <a:txBody>
                    <a:bodyPr/>
                    <a:lstStyle/>
                    <a:p>
                      <a:pPr lvl="0" indent="0" marL="0">
                        <a:buNone/>
                      </a:pPr>
                      <a:r>
                        <a:rPr/>
                        <a:t>Deloitte</a:t>
                      </a:r>
                    </a:p>
                  </a:txBody>
                </a:tc>
                <a:tc>
                  <a:txBody>
                    <a:bodyPr/>
                    <a:lstStyle/>
                    <a:p>
                      <a:pPr lvl="0" indent="0" marL="0">
                        <a:buNone/>
                      </a:pPr>
                      <a:r>
                        <a:rPr/>
                        <a:t>AI helps draft a summary of key tech trends and predictions.</a:t>
                      </a:r>
                    </a:p>
                  </a:txBody>
                </a:tc>
              </a:tr>
              <a:tr h="0">
                <a:tc>
                  <a:txBody>
                    <a:bodyPr/>
                    <a:lstStyle/>
                    <a:p>
                      <a:pPr lvl="0" indent="0" marL="0">
                        <a:buNone/>
                      </a:pPr>
                      <a:r>
                        <a:rPr/>
                        <a:t>“EU Deforestation Regulation (EUDR)”</a:t>
                      </a:r>
                    </a:p>
                  </a:txBody>
                </a:tc>
                <a:tc>
                  <a:txBody>
                    <a:bodyPr/>
                    <a:lstStyle/>
                    <a:p>
                      <a:pPr lvl="0" indent="0" marL="0">
                        <a:buNone/>
                      </a:pPr>
                      <a:r>
                        <a:rPr/>
                        <a:t>EU Parliament</a:t>
                      </a:r>
                    </a:p>
                  </a:txBody>
                </a:tc>
                <a:tc>
                  <a:txBody>
                    <a:bodyPr/>
                    <a:lstStyle/>
                    <a:p>
                      <a:pPr lvl="0" indent="0" marL="0">
                        <a:buNone/>
                      </a:pPr>
                      <a:r>
                        <a:rPr/>
                        <a:t>AI helps explain the core compliance requirements for businesses.</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Advanced Use: AI as a Supply Chain Analyst</a:t>
            </a:r>
          </a:p>
        </p:txBody>
      </p:sp>
      <p:sp>
        <p:nvSpPr>
          <p:cNvPr id="3" name="Content Placeholder 2"/>
          <p:cNvSpPr>
            <a:spLocks noGrp="1"/>
          </p:cNvSpPr>
          <p:nvPr>
            <p:ph idx="1"/>
          </p:nvPr>
        </p:nvSpPr>
        <p:spPr/>
        <p:txBody>
          <a:bodyPr/>
          <a:lstStyle/>
          <a:p>
            <a:pPr lvl="0" indent="0" marL="0">
              <a:buNone/>
            </a:pPr>
            <a:r>
              <a:rPr/>
              <a:t>Once you have a curated knowledge base, you can perform powerful analysis.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Advanced Prompt: Compare/Contrast</a:t>
            </a:r>
          </a:p>
          <a:p>
            <a:pPr lvl="0" indent="0" marL="1270000">
              <a:buNone/>
            </a:pPr>
            <a:r>
              <a:rPr sz="2000"/>
              <a:t>“Using the attached documents (EUDR and a company’s sustainability report), identify the key differences between the regulation’s requirements and the company’s stated policies.”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Advanced Prompt: Find Gaps</a:t>
            </a:r>
          </a:p>
          <a:p>
            <a:pPr lvl="0" indent="0" marL="1270000">
              <a:buNone/>
            </a:pPr>
            <a:r>
              <a:rPr sz="2000"/>
              <a:t>“Based on these three supplier audit reports, what common themes or risks emerge? What key compliance areas seem to be missing from all three?”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Advanced Prompt: Synthesize</a:t>
            </a:r>
          </a:p>
          <a:p>
            <a:pPr lvl="0" indent="0" marL="1270000">
              <a:buNone/>
            </a:pPr>
            <a:r>
              <a:rPr sz="2000"/>
              <a:t>“Synthesize the key recommendations from these five analyst reports on cobalt sourcing into a single, actionable bulleted list for our procurement team.”</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Build a Mini-Knowledge Base</a:t>
            </a:r>
          </a:p>
        </p:txBody>
      </p:sp>
      <p:sp>
        <p:nvSpPr>
          <p:cNvPr id="3" name="Content Placeholder 2"/>
          <p:cNvSpPr>
            <a:spLocks noGrp="1"/>
          </p:cNvSpPr>
          <p:nvPr>
            <p:ph idx="1"/>
          </p:nvPr>
        </p:nvSpPr>
        <p:spPr/>
        <p:txBody>
          <a:bodyPr/>
          <a:lstStyle/>
          <a:p>
            <a:pPr lvl="0" indent="0" marL="0">
              <a:buNone/>
            </a:pPr>
            <a:r>
              <a:rPr b="1"/>
              <a:t>Goal:</a:t>
            </a:r>
            <a:r>
              <a:rPr/>
              <a:t> Use AI to analyze a small, curated set of sources on a supply chain topic.</a:t>
            </a:r>
          </a:p>
          <a:p>
            <a:pPr lvl="0" indent="0" marL="0">
              <a:buNone/>
            </a:pPr>
            <a:r>
              <a:rPr b="1"/>
              <a:t>Your Task:</a:t>
            </a:r>
            <a:r>
              <a:rPr/>
              <a:t> 1. Given three short texts on cobalt mining. 2. Create a Source Register for them. 3. Ask the AI to synthesize points of agreement and disagreement. 4. Verify the AI’s answer.</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“Sharp Edge” at Level 2: Bias Amplification</a:t>
            </a:r>
          </a:p>
        </p:txBody>
      </p:sp>
      <p:sp>
        <p:nvSpPr>
          <p:cNvPr id="3" name="Content Placeholder 2"/>
          <p:cNvSpPr>
            <a:spLocks noGrp="1"/>
          </p:cNvSpPr>
          <p:nvPr>
            <p:ph idx="1"/>
          </p:nvPr>
        </p:nvSpPr>
        <p:spPr/>
        <p:txBody>
          <a:bodyPr/>
          <a:lstStyle/>
          <a:p>
            <a:pPr lvl="0" indent="0" marL="0">
              <a:buNone/>
            </a:pPr>
            <a:r>
              <a:rPr b="1"/>
              <a:t>The Risk:</a:t>
            </a:r>
            <a:r>
              <a:rPr/>
              <a:t> If your curated source library is biased (e.g., all from one perspective), the AI’s analysis will reflect and potentially amplify that bias.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Truth-Seeking Angle (Level 2)</a:t>
            </a:r>
          </a:p>
        </p:txBody>
      </p:sp>
      <p:sp>
        <p:nvSpPr>
          <p:cNvPr id="3" name="Content Placeholder 2"/>
          <p:cNvSpPr>
            <a:spLocks noGrp="1"/>
          </p:cNvSpPr>
          <p:nvPr>
            <p:ph idx="1"/>
          </p:nvPr>
        </p:nvSpPr>
        <p:spPr/>
        <p:txBody>
          <a:bodyPr/>
          <a:lstStyle/>
          <a:p>
            <a:pPr lvl="0" indent="0" marL="0">
              <a:buNone/>
            </a:pPr>
            <a:r>
              <a:rPr/>
              <a:t>Truth is </a:t>
            </a:r>
            <a:r>
              <a:rPr b="1"/>
              <a:t>triangulated across multiple, diverse, documented sources.</a:t>
            </a:r>
          </a:p>
          <a:p>
            <a:pPr lvl="0" indent="0" marL="0">
              <a:buNone/>
            </a:pPr>
            <a:r>
              <a:rPr/>
              <a:t>Your defense is to be a </a:t>
            </a:r>
            <a:r>
              <a:rPr b="1"/>
              <a:t>conscious curator.</a:t>
            </a:r>
            <a:r>
              <a:rPr/>
              <a:t> Actively seek out different and opposing viewpoints for your knowledge base.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Empowering Takeaway (Level 2)</a:t>
            </a:r>
          </a:p>
        </p:txBody>
      </p:sp>
      <p:sp>
        <p:nvSpPr>
          <p:cNvPr id="3" name="Content Placeholder 2"/>
          <p:cNvSpPr>
            <a:spLocks noGrp="1"/>
          </p:cNvSpPr>
          <p:nvPr>
            <p:ph idx="1"/>
          </p:nvPr>
        </p:nvSpPr>
        <p:spPr/>
        <p:txBody>
          <a:bodyPr/>
          <a:lstStyle/>
          <a:p>
            <a:pPr lvl="0" indent="0" marL="1270000">
              <a:buNone/>
            </a:pPr>
            <a:r>
              <a:rPr sz="2000"/>
              <a:t>I am a curator and sense-maker. I build my own trusted libraries and use AI as an analyst to help me find the patterns, connections, and gaps within them.</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 2: Working with Your Own Data</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3: Becoming an Augmented Analyst (Level 3)</a:t>
            </a:r>
          </a:p>
        </p:txBody>
      </p:sp>
      <p:sp>
        <p:nvSpPr>
          <p:cNvPr id="3" name="Content Placeholder 2"/>
          <p:cNvSpPr>
            <a:spLocks noGrp="1"/>
          </p:cNvSpPr>
          <p:nvPr>
            <p:ph idx="1"/>
          </p:nvPr>
        </p:nvSpPr>
        <p:spPr/>
        <p:txBody>
          <a:bodyPr/>
          <a:lstStyle/>
          <a:p>
            <a:pPr lvl="0" indent="0" marL="0">
              <a:buNone/>
            </a:pPr>
            <a:r>
              <a:rPr b="1"/>
              <a:t>The Shift:</a:t>
            </a:r>
            <a:r>
              <a:rPr/>
              <a:t> From analyzing text → analyzing </a:t>
            </a:r>
            <a:r>
              <a:rPr b="1"/>
              <a:t>your own data and code.</a:t>
            </a:r>
          </a:p>
          <a:p>
            <a:pPr lvl="0" indent="0" marL="0">
              <a:buNone/>
            </a:pPr>
            <a:r>
              <a:rPr b="1"/>
              <a:t>Core Skills:</a:t>
            </a:r>
            <a:r>
              <a:rPr/>
              <a:t> - Using AI as a coding assistant. - Generating simple scripts for data analysis. - Creating plots and tables as verifiable evidence.</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Hook: Spreadsheet Hell vs. Instant Insight</a:t>
            </a:r>
          </a:p>
        </p:txBody>
      </p:sp>
      <p:sp>
        <p:nvSpPr>
          <p:cNvPr id="3" name="Content Placeholder 2"/>
          <p:cNvSpPr>
            <a:spLocks noGrp="1"/>
          </p:cNvSpPr>
          <p:nvPr>
            <p:ph idx="1" sz="half"/>
          </p:nvPr>
        </p:nvSpPr>
        <p:spPr/>
        <p:txBody>
          <a:bodyPr/>
          <a:lstStyle/>
          <a:p>
            <a:pPr lvl="0" indent="0" marL="0">
              <a:spcBef>
                <a:spcPts val="3000"/>
              </a:spcBef>
              <a:buNone/>
            </a:pPr>
            <a:r>
              <a:rPr b="1"/>
              <a:t>The Wall of Data</a:t>
            </a:r>
          </a:p>
          <a:p>
            <a:pPr lvl="0" indent="0" marL="0">
              <a:buNone/>
            </a:pPr>
            <a:r>
              <a:rPr/>
              <a:t>A 10,000-row CSV file. The answer is in there, but finding it feels impossible.</a:t>
            </a:r>
          </a:p>
        </p:txBody>
      </p:sp>
      <p:sp>
        <p:nvSpPr>
          <p:cNvPr id="4" name="Content Placeholder 3"/>
          <p:cNvSpPr>
            <a:spLocks noGrp="1"/>
          </p:cNvSpPr>
          <p:nvPr>
            <p:ph idx="2" sz="half"/>
          </p:nvPr>
        </p:nvSpPr>
        <p:spPr/>
        <p:txBody>
          <a:bodyPr/>
          <a:lstStyle/>
          <a:p>
            <a:pPr lvl="0" indent="0" marL="0">
              <a:spcBef>
                <a:spcPts val="3000"/>
              </a:spcBef>
              <a:buNone/>
            </a:pPr>
            <a:r>
              <a:rPr b="1"/>
              <a:t>The Revealing Chart</a:t>
            </a:r>
          </a:p>
          <a:p>
            <a:pPr lvl="0" indent="0" marL="0">
              <a:buNone/>
            </a:pPr>
            <a:r>
              <a:rPr/>
              <a:t>A simple chart, generated in minutes, that clearly shows the most important trend.</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Core Lesson: AI as a Code Translator</a:t>
            </a:r>
          </a:p>
        </p:txBody>
      </p:sp>
      <p:sp>
        <p:nvSpPr>
          <p:cNvPr id="3" name="Content Placeholder 2"/>
          <p:cNvSpPr>
            <a:spLocks noGrp="1"/>
          </p:cNvSpPr>
          <p:nvPr>
            <p:ph idx="1"/>
          </p:nvPr>
        </p:nvSpPr>
        <p:spPr/>
        <p:txBody>
          <a:bodyPr/>
          <a:lstStyle/>
          <a:p>
            <a:pPr lvl="0" indent="0" marL="0">
              <a:buNone/>
            </a:pPr>
            <a:r>
              <a:rPr/>
              <a:t>You don’t need to be an expert coder. You need to be an expert at </a:t>
            </a:r>
            <a:r>
              <a:rPr b="1"/>
              <a:t>describing your data and your goal.</a:t>
            </a:r>
          </a:p>
          <a:p>
            <a:pPr lvl="0" indent="0" marL="0">
              <a:buNone/>
            </a:pPr>
            <a:r>
              <a:rPr/>
              <a:t>The AI translates your plain-English request into code. You run the code and check the output.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Code Translator Workflow</a:t>
            </a:r>
          </a:p>
          <a:p>
            <a:pPr lvl="0" indent="-342900" marL="342900">
              <a:buAutoNum type="arabicPeriod"/>
            </a:pPr>
            <a:r>
              <a:rPr b="1"/>
              <a:t>Describe:</a:t>
            </a:r>
            <a:r>
              <a:rPr/>
              <a:t> Tell the AI about your data (e.g., columns, data types).</a:t>
            </a:r>
          </a:p>
          <a:p>
            <a:pPr lvl="0" indent="-342900" marL="342900">
              <a:buAutoNum type="arabicPeriod"/>
            </a:pPr>
            <a:r>
              <a:rPr b="1"/>
              <a:t>Ask:</a:t>
            </a:r>
            <a:r>
              <a:rPr/>
              <a:t> Ask a clear question in plain English.</a:t>
            </a:r>
          </a:p>
          <a:p>
            <a:pPr lvl="0" indent="-342900" marL="342900">
              <a:buAutoNum type="arabicPeriod"/>
            </a:pPr>
            <a:r>
              <a:rPr b="1"/>
              <a:t>Generate:</a:t>
            </a:r>
            <a:r>
              <a:rPr/>
              <a:t> AI provides a code snippet.</a:t>
            </a:r>
          </a:p>
          <a:p>
            <a:pPr lvl="0" indent="-342900" marL="342900">
              <a:buAutoNum type="arabicPeriod"/>
            </a:pPr>
            <a:r>
              <a:rPr b="1"/>
              <a:t>Run &amp; Review:</a:t>
            </a:r>
            <a:r>
              <a:rPr/>
              <a:t> You run the code and review the output for common sense.</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DEMO: Data-to-Plot Challenge</a:t>
            </a:r>
          </a:p>
        </p:txBody>
      </p:sp>
      <p:sp>
        <p:nvSpPr>
          <p:cNvPr id="3" name="Content Placeholder 2"/>
          <p:cNvSpPr>
            <a:spLocks noGrp="1"/>
          </p:cNvSpPr>
          <p:nvPr>
            <p:ph idx="1"/>
          </p:nvPr>
        </p:nvSpPr>
        <p:spPr/>
        <p:txBody>
          <a:bodyPr/>
          <a:lstStyle/>
          <a:p>
            <a:pPr lvl="0" indent="0" marL="0">
              <a:buNone/>
            </a:pPr>
            <a:r>
              <a:rPr b="1"/>
              <a:t>Goal:</a:t>
            </a:r>
            <a:r>
              <a:rPr/>
              <a:t> Take a simple shipment dataset and create a chart.</a:t>
            </a:r>
          </a:p>
          <a:p>
            <a:pPr lvl="0" indent="0" marL="0">
              <a:buNone/>
            </a:pPr>
            <a:r>
              <a:rPr b="1"/>
              <a:t>Data:</a:t>
            </a:r>
            <a:r>
              <a:rPr/>
              <a:t> </a:t>
            </a:r>
            <a:r>
              <a:rPr>
                <a:latin typeface="Courier"/>
              </a:rPr>
              <a:t>shipment_data.csv</a:t>
            </a:r>
            <a:r>
              <a:rPr/>
              <a:t> with columns: </a:t>
            </a:r>
            <a:r>
              <a:rPr>
                <a:latin typeface="Courier"/>
              </a:rPr>
              <a:t>Origin</a:t>
            </a:r>
            <a:r>
              <a:rPr/>
              <a:t>, </a:t>
            </a:r>
            <a:r>
              <a:rPr>
                <a:latin typeface="Courier"/>
              </a:rPr>
              <a:t>Destination</a:t>
            </a:r>
            <a:r>
              <a:rPr/>
              <a:t>, </a:t>
            </a:r>
            <a:r>
              <a:rPr>
                <a:latin typeface="Courier"/>
              </a:rPr>
              <a:t>Carrier</a:t>
            </a:r>
            <a:r>
              <a:rPr/>
              <a:t>, </a:t>
            </a:r>
            <a:r>
              <a:rPr>
                <a:latin typeface="Courier"/>
              </a:rPr>
              <a:t>Cost</a:t>
            </a:r>
            <a:r>
              <a:rPr/>
              <a:t>, </a:t>
            </a:r>
            <a:r>
              <a:rPr>
                <a:latin typeface="Courier"/>
              </a:rPr>
              <a:t>ShipmentDate</a:t>
            </a:r>
            <a:r>
              <a:rPr/>
              <a:t>.</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DEMO: Step 1 (Understand)</a:t>
            </a:r>
          </a:p>
          <a:p>
            <a:pPr lvl="0" indent="0" marL="0">
              <a:buNone/>
            </a:pPr>
            <a:r>
              <a:rPr b="1"/>
              <a:t>Prompt:</a:t>
            </a:r>
            <a:r>
              <a:rPr/>
              <a:t> </a:t>
            </a:r>
            <a:r>
              <a:rPr>
                <a:latin typeface="Courier"/>
              </a:rPr>
              <a:t>"I have a CSV file with columns 'Origin', 'Destination', 'Carrier', 'Cost', 'ShipmentDate'. Write a Python script to load this file and show me the first 5 rows."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DEMO: Step 2 (Analyze)</a:t>
            </a:r>
          </a:p>
          <a:p>
            <a:pPr lvl="0" indent="0" marL="0">
              <a:buNone/>
            </a:pPr>
            <a:r>
              <a:rPr b="1"/>
              <a:t>Prompt:</a:t>
            </a:r>
            <a:r>
              <a:rPr/>
              <a:t> </a:t>
            </a:r>
            <a:r>
              <a:rPr>
                <a:latin typeface="Courier"/>
              </a:rPr>
              <a:t>"Great. Now, write a script to calculate the average 'Cost' for each 'Carrier'."</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DEMO: Step 3 (Visualize)</a:t>
            </a:r>
          </a:p>
          <a:p>
            <a:pPr lvl="0" indent="0" marL="0">
              <a:buNone/>
            </a:pPr>
            <a:r>
              <a:rPr b="1"/>
              <a:t>Prompt:</a:t>
            </a:r>
            <a:r>
              <a:rPr/>
              <a:t> </a:t>
            </a:r>
            <a:r>
              <a:rPr>
                <a:latin typeface="Courier"/>
              </a:rPr>
              <a:t>"Excellent. Now, create a bar chart showing the average cost by carrier. Make the chart title 'Average Shipment Cost by Carrier'."</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“Sharp Edge” at Level 3: Flawed Code</a:t>
            </a:r>
          </a:p>
        </p:txBody>
      </p:sp>
      <p:sp>
        <p:nvSpPr>
          <p:cNvPr id="3" name="Content Placeholder 2"/>
          <p:cNvSpPr>
            <a:spLocks noGrp="1"/>
          </p:cNvSpPr>
          <p:nvPr>
            <p:ph idx="1"/>
          </p:nvPr>
        </p:nvSpPr>
        <p:spPr/>
        <p:txBody>
          <a:bodyPr/>
          <a:lstStyle/>
          <a:p>
            <a:pPr lvl="0" indent="0" marL="0">
              <a:buNone/>
            </a:pPr>
            <a:r>
              <a:rPr b="1"/>
              <a:t>The Risk:</a:t>
            </a:r>
            <a:r>
              <a:rPr/>
              <a:t> The AI can write code that runs but is subtly wrong (e.g., misinterpreting data types, using the wrong formula).</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Truth-Seeking Angle (Level 3)</a:t>
            </a:r>
          </a:p>
        </p:txBody>
      </p:sp>
      <p:sp>
        <p:nvSpPr>
          <p:cNvPr id="3" name="Content Placeholder 2"/>
          <p:cNvSpPr>
            <a:spLocks noGrp="1"/>
          </p:cNvSpPr>
          <p:nvPr>
            <p:ph idx="1"/>
          </p:nvPr>
        </p:nvSpPr>
        <p:spPr/>
        <p:txBody>
          <a:bodyPr/>
          <a:lstStyle/>
          <a:p>
            <a:pPr lvl="0" indent="0" marL="0">
              <a:buNone/>
            </a:pPr>
            <a:r>
              <a:rPr/>
              <a:t>Truth is what survives both </a:t>
            </a:r>
            <a:r>
              <a:rPr b="1"/>
              <a:t>source checks (L2)</a:t>
            </a:r>
            <a:r>
              <a:rPr/>
              <a:t> and </a:t>
            </a:r>
            <a:r>
              <a:rPr b="1"/>
              <a:t>data analysis (L3).</a:t>
            </a:r>
            <a:r>
              <a:rPr/>
              <a:t> The code and its output are now a primary source of evidence you must inspect.</a:t>
            </a:r>
          </a:p>
          <a:p>
            <a:pPr lvl="0" indent="0" marL="0">
              <a:buNone/>
            </a:pPr>
            <a:r>
              <a:rPr/>
              <a:t>Your defense is </a:t>
            </a:r>
            <a:r>
              <a:rPr b="1"/>
              <a:t>“code review with common sense.”</a:t>
            </a:r>
            <a:r>
              <a:rPr/>
              <a:t> Does the output look plausible?</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Empowering Takeaway (Level 3)</a:t>
            </a:r>
          </a:p>
        </p:txBody>
      </p:sp>
      <p:sp>
        <p:nvSpPr>
          <p:cNvPr id="3" name="Content Placeholder 2"/>
          <p:cNvSpPr>
            <a:spLocks noGrp="1"/>
          </p:cNvSpPr>
          <p:nvPr>
            <p:ph idx="1"/>
          </p:nvPr>
        </p:nvSpPr>
        <p:spPr/>
        <p:txBody>
          <a:bodyPr/>
          <a:lstStyle/>
          <a:p>
            <a:pPr lvl="0" indent="0" marL="1270000">
              <a:buNone/>
            </a:pPr>
            <a:r>
              <a:rPr sz="2000"/>
              <a:t>I can interrogate my own data to generate verifiable evidence. I can use AI to explore numbers and create data-driven insights, even without being a coding expert.</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 3: Building Repeatable Systems</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4: The Workflow Engineer (Level 4)</a:t>
            </a:r>
          </a:p>
        </p:txBody>
      </p:sp>
      <p:sp>
        <p:nvSpPr>
          <p:cNvPr id="3" name="Content Placeholder 2"/>
          <p:cNvSpPr>
            <a:spLocks noGrp="1"/>
          </p:cNvSpPr>
          <p:nvPr>
            <p:ph idx="1"/>
          </p:nvPr>
        </p:nvSpPr>
        <p:spPr/>
        <p:txBody>
          <a:bodyPr/>
          <a:lstStyle/>
          <a:p>
            <a:pPr lvl="0" indent="0" marL="0">
              <a:buNone/>
            </a:pPr>
            <a:r>
              <a:rPr b="1"/>
              <a:t>The Shift:</a:t>
            </a:r>
            <a:r>
              <a:rPr/>
              <a:t> From “one-off tasks” → </a:t>
            </a:r>
            <a:r>
              <a:rPr b="1"/>
              <a:t>“repeatable, automated workflows.”</a:t>
            </a:r>
          </a:p>
          <a:p>
            <a:pPr lvl="0" indent="0" marL="0">
              <a:buNone/>
            </a:pPr>
            <a:r>
              <a:rPr b="1"/>
              <a:t>Core Skills:</a:t>
            </a:r>
            <a:r>
              <a:rPr/>
              <a:t> - Thinking in “Triggers, Steps, and Outputs.” - Mapping manual processes for automation.</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Hook: The Agony of the Weekly Logistics Report</a:t>
            </a:r>
          </a:p>
        </p:txBody>
      </p:sp>
      <p:sp>
        <p:nvSpPr>
          <p:cNvPr id="3" name="Content Placeholder 2"/>
          <p:cNvSpPr>
            <a:spLocks noGrp="1"/>
          </p:cNvSpPr>
          <p:nvPr>
            <p:ph idx="1"/>
          </p:nvPr>
        </p:nvSpPr>
        <p:spPr/>
        <p:txBody>
          <a:bodyPr/>
          <a:lstStyle/>
          <a:p>
            <a:pPr lvl="0" indent="0" marL="0">
              <a:buNone/>
            </a:pPr>
            <a:r>
              <a:rPr/>
              <a:t>Imagine it’s Friday at 4 PM. You have to manually: 1. Download weekly carrier performance data. 2. Find and copy data for delayed shipments. 3. Summarize reasons for delays. 4. Post the summary to the team’s channel.</a:t>
            </a:r>
          </a:p>
          <a:p>
            <a:pPr lvl="0" indent="0" marL="0">
              <a:buNone/>
            </a:pPr>
            <a:r>
              <a:rPr/>
              <a:t>This is a perfect target for automation.</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Core Lesson: Think Like an Engineer</a:t>
            </a:r>
          </a:p>
        </p:txBody>
      </p:sp>
      <p:sp>
        <p:nvSpPr>
          <p:cNvPr id="3" name="Content Placeholder 2"/>
          <p:cNvSpPr>
            <a:spLocks noGrp="1"/>
          </p:cNvSpPr>
          <p:nvPr>
            <p:ph idx="1"/>
          </p:nvPr>
        </p:nvSpPr>
        <p:spPr/>
        <p:txBody>
          <a:bodyPr/>
          <a:lstStyle/>
          <a:p>
            <a:pPr lvl="0" indent="0" marL="0">
              <a:buNone/>
            </a:pPr>
            <a:r>
              <a:rPr/>
              <a:t>Engineers don’t just do tasks; they build processes. You can too.</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Step 1: The Trigger</a:t>
            </a:r>
          </a:p>
          <a:p>
            <a:pPr lvl="0" indent="0" marL="0">
              <a:buNone/>
            </a:pPr>
            <a:r>
              <a:rPr/>
              <a:t>What starts the process?</a:t>
            </a:r>
          </a:p>
          <a:p>
            <a:pPr lvl="0" indent="0" marL="1270000">
              <a:buNone/>
            </a:pPr>
            <a:r>
              <a:rPr sz="2000" b="1"/>
              <a:t>e.g., “A new email arrives with ‘Weekly Report’ in the subject.”</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Step 2: The Steps</a:t>
            </a:r>
          </a:p>
          <a:p>
            <a:pPr lvl="0" indent="0" marL="0">
              <a:buNone/>
            </a:pPr>
            <a:r>
              <a:rPr/>
              <a:t>What actions are performed?</a:t>
            </a:r>
          </a:p>
          <a:p>
            <a:pPr lvl="0" indent="0" marL="1270000">
              <a:buNone/>
            </a:pPr>
            <a:r>
              <a:rPr sz="2000" b="1"/>
              <a:t>1. Extract the attachment.</a:t>
            </a:r>
            <a:r>
              <a:rPr sz="2000"/>
              <a:t> </a:t>
            </a:r>
            <a:r>
              <a:rPr sz="2000" b="1"/>
              <a:t>2. Get the data.</a:t>
            </a:r>
            <a:r>
              <a:rPr sz="2000"/>
              <a:t> </a:t>
            </a:r>
            <a:r>
              <a:rPr sz="2000" b="1"/>
              <a:t>3. Call AI to summarize the data.</a:t>
            </a:r>
            <a:r>
              <a:rPr sz="2000"/>
              <a:t> </a:t>
            </a:r>
            <a:r>
              <a:rPr sz="2000" b="1"/>
              <a:t>4. Format the AI’s response.</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Step 3: The Output</a:t>
            </a:r>
          </a:p>
          <a:p>
            <a:pPr lvl="0" indent="0" marL="0">
              <a:buNone/>
            </a:pPr>
            <a:r>
              <a:rPr/>
              <a:t>What is the final result?</a:t>
            </a:r>
          </a:p>
          <a:p>
            <a:pPr lvl="0" indent="0" marL="1270000">
              <a:buNone/>
            </a:pPr>
            <a:r>
              <a:rPr sz="2000" b="1"/>
              <a:t>e.g., “Post the formatted summary to the #sales channel in Teams.”</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Design a Personal Workflow</a:t>
            </a:r>
          </a:p>
        </p:txBody>
      </p:sp>
      <p:sp>
        <p:nvSpPr>
          <p:cNvPr id="3" name="Content Placeholder 2"/>
          <p:cNvSpPr>
            <a:spLocks noGrp="1"/>
          </p:cNvSpPr>
          <p:nvPr>
            <p:ph idx="1"/>
          </p:nvPr>
        </p:nvSpPr>
        <p:spPr/>
        <p:txBody>
          <a:bodyPr/>
          <a:lstStyle/>
          <a:p>
            <a:pPr lvl="0" indent="0" marL="0">
              <a:buNone/>
            </a:pPr>
            <a:r>
              <a:rPr b="1"/>
              <a:t>Goal:</a:t>
            </a:r>
            <a:r>
              <a:rPr/>
              <a:t> Map a repetitive task and design an automation for it on paper.</a:t>
            </a:r>
          </a:p>
          <a:p>
            <a:pPr lvl="0" indent="0" marL="0">
              <a:buNone/>
            </a:pPr>
            <a:r>
              <a:rPr b="1"/>
              <a:t>Your Task:</a:t>
            </a:r>
            <a:r>
              <a:rPr/>
              <a:t> 1. </a:t>
            </a:r>
            <a:r>
              <a:rPr b="1"/>
              <a:t>Choose a task</a:t>
            </a:r>
            <a:r>
              <a:rPr/>
              <a:t> you do regularly. 2. </a:t>
            </a:r>
            <a:r>
              <a:rPr b="1"/>
              <a:t>Map it out:</a:t>
            </a:r>
            <a:r>
              <a:rPr/>
              <a:t> Write down the Trigger, the Steps, and the Output. 3. </a:t>
            </a:r>
            <a:r>
              <a:rPr b="1"/>
              <a:t>Identify the AI step:</a:t>
            </a:r>
            <a:r>
              <a:rPr/>
              <a:t> Where could an AI make this workflow smarter?</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“Sharp Edge” at Level 4: Silent Failures</a:t>
            </a:r>
          </a:p>
        </p:txBody>
      </p:sp>
      <p:sp>
        <p:nvSpPr>
          <p:cNvPr id="3" name="Content Placeholder 2"/>
          <p:cNvSpPr>
            <a:spLocks noGrp="1"/>
          </p:cNvSpPr>
          <p:nvPr>
            <p:ph idx="1"/>
          </p:nvPr>
        </p:nvSpPr>
        <p:spPr/>
        <p:txBody>
          <a:bodyPr/>
          <a:lstStyle/>
          <a:p>
            <a:pPr lvl="0" indent="0" marL="0">
              <a:buNone/>
            </a:pPr>
            <a:r>
              <a:rPr b="1"/>
              <a:t>The Risk:</a:t>
            </a:r>
            <a:r>
              <a:rPr/>
              <a:t> Your automation might fail silently. The trigger might not fire or an API call might return an error, and you won’t know it. Decisions could be made on bad or outdated data.</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Truth-Seeking Angle (Level 4)</a:t>
            </a:r>
          </a:p>
        </p:txBody>
      </p:sp>
      <p:sp>
        <p:nvSpPr>
          <p:cNvPr id="3" name="Content Placeholder 2"/>
          <p:cNvSpPr>
            <a:spLocks noGrp="1"/>
          </p:cNvSpPr>
          <p:nvPr>
            <p:ph idx="1"/>
          </p:nvPr>
        </p:nvSpPr>
        <p:spPr/>
        <p:txBody>
          <a:bodyPr/>
          <a:lstStyle/>
          <a:p>
            <a:pPr lvl="0" indent="0" marL="0">
              <a:buNone/>
            </a:pPr>
            <a:r>
              <a:rPr/>
              <a:t>Truth is supported by </a:t>
            </a:r>
            <a:r>
              <a:rPr b="1"/>
              <a:t>stable, inspectable pipelines.</a:t>
            </a:r>
            <a:r>
              <a:rPr/>
              <a:t> An automation is not a “fire and forget” magic box.</a:t>
            </a:r>
          </a:p>
          <a:p>
            <a:pPr lvl="0" indent="0" marL="0">
              <a:buNone/>
            </a:pPr>
            <a:r>
              <a:rPr/>
              <a:t>Your defense is </a:t>
            </a:r>
            <a:r>
              <a:rPr b="1"/>
              <a:t>monitoring and logging.</a:t>
            </a:r>
            <a:r>
              <a:rPr/>
              <a:t> Your workflow needs a final step: “Send a notification upon success or failure.”</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Empowering Takeaway (Level 4)</a:t>
            </a:r>
          </a:p>
        </p:txBody>
      </p:sp>
      <p:sp>
        <p:nvSpPr>
          <p:cNvPr id="3" name="Content Placeholder 2"/>
          <p:cNvSpPr>
            <a:spLocks noGrp="1"/>
          </p:cNvSpPr>
          <p:nvPr>
            <p:ph idx="1"/>
          </p:nvPr>
        </p:nvSpPr>
        <p:spPr/>
        <p:txBody>
          <a:bodyPr/>
          <a:lstStyle/>
          <a:p>
            <a:pPr lvl="0" indent="0" marL="1270000">
              <a:buNone/>
            </a:pPr>
            <a:r>
              <a:rPr sz="2000"/>
              <a:t>I am a workflow engineer. I don’t just perform tasks; I design and automate processes. I can build systems that work for me, freeing my energy for higher-value problems.</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5: The System Designer (Level 5)</a:t>
            </a:r>
          </a:p>
        </p:txBody>
      </p:sp>
      <p:sp>
        <p:nvSpPr>
          <p:cNvPr id="3" name="Content Placeholder 2"/>
          <p:cNvSpPr>
            <a:spLocks noGrp="1"/>
          </p:cNvSpPr>
          <p:nvPr>
            <p:ph idx="1"/>
          </p:nvPr>
        </p:nvSpPr>
        <p:spPr/>
        <p:txBody>
          <a:bodyPr/>
          <a:lstStyle/>
          <a:p>
            <a:pPr lvl="0" indent="0" marL="0">
              <a:buNone/>
            </a:pPr>
            <a:r>
              <a:rPr b="1"/>
              <a:t>The Shift:</a:t>
            </a:r>
            <a:r>
              <a:rPr/>
              <a:t> From “AI helps me” → </a:t>
            </a:r>
            <a:r>
              <a:rPr b="1"/>
              <a:t>“AI is part of my solution for others.”</a:t>
            </a:r>
          </a:p>
          <a:p>
            <a:pPr lvl="0" indent="0" marL="0">
              <a:buNone/>
            </a:pPr>
            <a:r>
              <a:rPr b="1"/>
              <a:t>Core Skills:</a:t>
            </a:r>
            <a:r>
              <a:rPr/>
              <a:t> - Thinking about user needs &amp; socio-technical systems. - Understanding basic AI architectures (like RAG). - Designing for trust and human oversight.</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Hook: Personal Hack vs. Team Solution</a:t>
            </a:r>
          </a:p>
        </p:txBody>
      </p:sp>
      <p:sp>
        <p:nvSpPr>
          <p:cNvPr id="3" name="Content Placeholder 2"/>
          <p:cNvSpPr>
            <a:spLocks noGrp="1"/>
          </p:cNvSpPr>
          <p:nvPr>
            <p:ph idx="1" sz="half"/>
          </p:nvPr>
        </p:nvSpPr>
        <p:spPr/>
        <p:txBody>
          <a:bodyPr/>
          <a:lstStyle/>
          <a:p>
            <a:pPr lvl="0" indent="0" marL="0">
              <a:spcBef>
                <a:spcPts val="3000"/>
              </a:spcBef>
              <a:buNone/>
            </a:pPr>
            <a:r>
              <a:rPr b="1"/>
              <a:t>Your Personal Workflow (L4)</a:t>
            </a:r>
          </a:p>
          <a:p>
            <a:pPr lvl="0" indent="0" marL="0">
              <a:buNone/>
            </a:pPr>
            <a:r>
              <a:rPr/>
              <a:t>You have a clever workflow that automatically summarizes industry news for you every morning.</a:t>
            </a:r>
          </a:p>
          <a:p>
            <a:pPr lvl="0" indent="0" marL="0">
              <a:buNone/>
            </a:pPr>
            <a:r>
              <a:rPr b="1"/>
              <a:t>It’s a personal productivity hack.</a:t>
            </a:r>
          </a:p>
        </p:txBody>
      </p:sp>
      <p:sp>
        <p:nvSpPr>
          <p:cNvPr id="4" name="Content Placeholder 3"/>
          <p:cNvSpPr>
            <a:spLocks noGrp="1"/>
          </p:cNvSpPr>
          <p:nvPr>
            <p:ph idx="2" sz="half"/>
          </p:nvPr>
        </p:nvSpPr>
        <p:spPr/>
        <p:txBody>
          <a:bodyPr/>
          <a:lstStyle/>
          <a:p>
            <a:pPr lvl="0" indent="0" marL="0">
              <a:spcBef>
                <a:spcPts val="3000"/>
              </a:spcBef>
              <a:buNone/>
            </a:pPr>
            <a:r>
              <a:rPr b="1"/>
              <a:t>The Team’s Solution (L5)</a:t>
            </a:r>
          </a:p>
          <a:p>
            <a:pPr lvl="0" indent="0" marL="0">
              <a:buNone/>
            </a:pPr>
            <a:r>
              <a:rPr/>
              <a:t>You build a simple chatbot for your team. Anyone can now ask it: </a:t>
            </a:r>
            <a:r>
              <a:rPr>
                <a:latin typeface="Courier"/>
              </a:rPr>
              <a:t>"What's the latest news on Competitor X?"</a:t>
            </a:r>
            <a:r>
              <a:rPr/>
              <a:t> and get a summarized answer, with sources.</a:t>
            </a:r>
          </a:p>
          <a:p>
            <a:pPr lvl="0" indent="0" marL="0">
              <a:buNone/>
            </a:pPr>
            <a:r>
              <a:rPr b="1"/>
              <a:t>It’s a shared, scalable capability.</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Core Lesson: Designing for Trust</a:t>
            </a:r>
          </a:p>
        </p:txBody>
      </p:sp>
      <p:sp>
        <p:nvSpPr>
          <p:cNvPr id="3" name="Content Placeholder 2"/>
          <p:cNvSpPr>
            <a:spLocks noGrp="1"/>
          </p:cNvSpPr>
          <p:nvPr>
            <p:ph idx="1"/>
          </p:nvPr>
        </p:nvSpPr>
        <p:spPr/>
        <p:txBody>
          <a:bodyPr/>
          <a:lstStyle/>
          <a:p>
            <a:pPr lvl="0" indent="0" marL="0">
              <a:buNone/>
            </a:pPr>
            <a:r>
              <a:rPr/>
              <a:t>When you build for others, the most important feature is </a:t>
            </a:r>
            <a:r>
              <a:rPr b="1"/>
              <a:t>Trust</a:t>
            </a:r>
            <a:r>
              <a:rPr/>
              <a:t>.</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Designing for Trust 1: Ground the AI</a:t>
            </a:r>
          </a:p>
          <a:p>
            <a:pPr lvl="0" indent="0" marL="0">
              <a:buNone/>
            </a:pPr>
            <a:r>
              <a:rPr/>
              <a:t>Don’t let the AI answer from its general knowledge. Force it to answer </a:t>
            </a:r>
            <a:r>
              <a:rPr i="1"/>
              <a:t>only</a:t>
            </a:r>
            <a:r>
              <a:rPr/>
              <a:t> from a specific set of documents you provide.</a:t>
            </a:r>
          </a:p>
          <a:p>
            <a:pPr lvl="0" indent="0" marL="0">
              <a:buNone/>
            </a:pPr>
            <a:r>
              <a:rPr/>
              <a:t>This is called </a:t>
            </a:r>
            <a:r>
              <a:rPr b="1"/>
              <a:t>Retrieval-Augmented Generation (RAG)</a:t>
            </a:r>
            <a:r>
              <a:rPr/>
              <a:t>.</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Designing for Trust 2: Show Your Work</a:t>
            </a:r>
          </a:p>
          <a:p>
            <a:pPr lvl="0" indent="0" marL="0">
              <a:buNone/>
            </a:pPr>
            <a:r>
              <a:rPr/>
              <a:t>The AI must always cite its sources. Every answer should come with a footnote:</a:t>
            </a:r>
          </a:p>
          <a:p>
            <a:pPr lvl="0" indent="0" marL="1270000">
              <a:buNone/>
            </a:pPr>
            <a:r>
              <a:rPr sz="2000"/>
              <a:t>“I got this information from [Document A, page 4].”</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Designing for Trust 3: Provide an “Eject Button”</a:t>
            </a:r>
          </a:p>
          <a:p>
            <a:pPr lvl="0" indent="0" marL="0">
              <a:buNone/>
            </a:pPr>
            <a:r>
              <a:rPr/>
              <a:t>The user must always be in control. They need to be able to see the source, question the AI’s logic, and override its conclusion.</a:t>
            </a:r>
          </a:p>
          <a:p>
            <a:pPr lvl="0" indent="0" marL="0">
              <a:buNone/>
            </a:pPr>
            <a:r>
              <a:rPr/>
              <a:t>This is “Human-in-the-Loop” design.</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Reflection: Design a Simple AI Tool</a:t>
            </a:r>
          </a:p>
        </p:txBody>
      </p:sp>
      <p:sp>
        <p:nvSpPr>
          <p:cNvPr id="3" name="Content Placeholder 2"/>
          <p:cNvSpPr>
            <a:spLocks noGrp="1"/>
          </p:cNvSpPr>
          <p:nvPr>
            <p:ph idx="1"/>
          </p:nvPr>
        </p:nvSpPr>
        <p:spPr/>
        <p:txBody>
          <a:bodyPr/>
          <a:lstStyle/>
          <a:p>
            <a:pPr lvl="0" indent="0" marL="0">
              <a:buNone/>
            </a:pPr>
            <a:r>
              <a:rPr b="1"/>
              <a:t>Goal:</a:t>
            </a:r>
            <a:r>
              <a:rPr/>
              <a:t> Scope out a useful AI tool for a specific user.</a:t>
            </a:r>
          </a:p>
          <a:p>
            <a:pPr lvl="0" indent="0" marL="0">
              <a:buNone/>
            </a:pPr>
            <a:r>
              <a:rPr b="1"/>
              <a:t>Scenario:</a:t>
            </a:r>
            <a:r>
              <a:rPr/>
              <a:t> - </a:t>
            </a:r>
            <a:r>
              <a:rPr b="1"/>
              <a:t>User:</a:t>
            </a:r>
            <a:r>
              <a:rPr/>
              <a:t> A purchasing manager at a coffee company. - </a:t>
            </a:r>
            <a:r>
              <a:rPr b="1"/>
              <a:t>Problem:</a:t>
            </a:r>
            <a:r>
              <a:rPr/>
              <a:t> They need to verify if a new supplier complies with the EU Deforestation Regulation (EUDR). - </a:t>
            </a:r>
            <a:r>
              <a:rPr b="1"/>
              <a:t>Your Task:</a:t>
            </a:r>
            <a:r>
              <a:rPr/>
              <a:t> What documents would the AI need? How would it cite its sources to be trustworthy?</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“Sharp Edge” at Level 5: Systemic Risk</a:t>
            </a:r>
          </a:p>
        </p:txBody>
      </p:sp>
      <p:sp>
        <p:nvSpPr>
          <p:cNvPr id="3" name="Content Placeholder 2"/>
          <p:cNvSpPr>
            <a:spLocks noGrp="1"/>
          </p:cNvSpPr>
          <p:nvPr>
            <p:ph idx="1"/>
          </p:nvPr>
        </p:nvSpPr>
        <p:spPr/>
        <p:txBody>
          <a:bodyPr/>
          <a:lstStyle/>
          <a:p>
            <a:pPr lvl="0" indent="0" marL="0">
              <a:buNone/>
            </a:pPr>
            <a:r>
              <a:rPr b="1"/>
              <a:t>The Risk:</a:t>
            </a:r>
            <a:r>
              <a:rPr/>
              <a:t> A flaw in your system (a bias in the RAG library, a bug in the logic) doesn’t just affect you; it affects </a:t>
            </a:r>
            <a:r>
              <a:rPr b="1"/>
              <a:t>all users</a:t>
            </a:r>
            <a:r>
              <a:rPr/>
              <a:t>. This can lead to systematically unfair or wrong outcomes at scale.</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Truth-Seeking Angle (Level 5)</a:t>
            </a:r>
          </a:p>
        </p:txBody>
      </p:sp>
      <p:sp>
        <p:nvSpPr>
          <p:cNvPr id="3" name="Content Placeholder 2"/>
          <p:cNvSpPr>
            <a:spLocks noGrp="1"/>
          </p:cNvSpPr>
          <p:nvPr>
            <p:ph idx="1"/>
          </p:nvPr>
        </p:nvSpPr>
        <p:spPr/>
        <p:txBody>
          <a:bodyPr/>
          <a:lstStyle/>
          <a:p>
            <a:pPr lvl="0" indent="0" marL="0">
              <a:buNone/>
            </a:pPr>
            <a:r>
              <a:rPr/>
              <a:t>Truth is co-created by </a:t>
            </a:r>
            <a:r>
              <a:rPr b="1"/>
              <a:t>users + data + sources + AI</a:t>
            </a:r>
            <a:r>
              <a:rPr/>
              <a:t>, with evidence always visible and challengeable. The system must be designed for transparency and correction.</a:t>
            </a:r>
          </a:p>
          <a:p>
            <a:pPr lvl="0" indent="0" marL="0">
              <a:buNone/>
            </a:pPr>
            <a:r>
              <a:rPr/>
              <a:t>Your defense is </a:t>
            </a:r>
            <a:r>
              <a:rPr b="1"/>
              <a:t>good design and governance.</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Empowering Takeaway (Level 5)</a:t>
            </a:r>
          </a:p>
        </p:txBody>
      </p:sp>
      <p:sp>
        <p:nvSpPr>
          <p:cNvPr id="3" name="Content Placeholder 2"/>
          <p:cNvSpPr>
            <a:spLocks noGrp="1"/>
          </p:cNvSpPr>
          <p:nvPr>
            <p:ph idx="1"/>
          </p:nvPr>
        </p:nvSpPr>
        <p:spPr/>
        <p:txBody>
          <a:bodyPr/>
          <a:lstStyle/>
          <a:p>
            <a:pPr lvl="0" indent="0" marL="1270000">
              <a:buNone/>
            </a:pPr>
            <a:r>
              <a:rPr sz="2000"/>
              <a:t>I am a socio-technical system designer. I can use AI as a component in a larger solution that empowers others. I design for trust, transparency, and human oversight.</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Conclusion</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Learning Journey Recap</a:t>
            </a:r>
          </a:p>
        </p:txBody>
      </p:sp>
      <p:sp>
        <p:nvSpPr>
          <p:cNvPr id="3" name="Content Placeholder 2"/>
          <p:cNvSpPr>
            <a:spLocks noGrp="1"/>
          </p:cNvSpPr>
          <p:nvPr>
            <p:ph idx="1"/>
          </p:nvPr>
        </p:nvSpPr>
        <p:spPr/>
        <p:txBody>
          <a:bodyPr/>
          <a:lstStyle/>
          <a:p>
            <a:pPr lvl="0" indent="0" marL="0">
              <a:buNone/>
            </a:pPr>
            <a:r>
              <a:rPr/>
              <a:t>We’ve travelled from Level 1 to 5. Let’s recap the identity shift at each stage.</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Level 1: The Aware User</a:t>
            </a:r>
          </a:p>
          <a:p>
            <a:pPr lvl="0" indent="0" marL="0">
              <a:buNone/>
            </a:pPr>
            <a:r>
              <a:rPr/>
              <a:t>You prompt and, most importantly, you verify.</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Level 2: The Curator</a:t>
            </a:r>
          </a:p>
          <a:p>
            <a:pPr lvl="0" indent="0" marL="0">
              <a:buNone/>
            </a:pPr>
            <a:r>
              <a:rPr/>
              <a:t>You build and analyze your own trusted knowledge base.</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Level 3: The Analyst</a:t>
            </a:r>
          </a:p>
          <a:p>
            <a:pPr lvl="0" indent="0" marL="0">
              <a:buNone/>
            </a:pPr>
            <a:r>
              <a:rPr/>
              <a:t>You interrogate your own data and generate new evidence.</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Level 4: The Engineer</a:t>
            </a:r>
          </a:p>
          <a:p>
            <a:pPr lvl="0" indent="0" marL="0">
              <a:buNone/>
            </a:pPr>
            <a:r>
              <a:rPr/>
              <a:t>You design and automate processes to work for you.</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Level 5: The Designer</a:t>
            </a:r>
          </a:p>
          <a:p>
            <a:pPr lvl="0" indent="0" marL="0">
              <a:buNone/>
            </a:pPr>
            <a:r>
              <a:rPr/>
              <a:t>You build trusted, AI-enabled solutions that empower others.</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 You!</a:t>
            </a:r>
          </a:p>
        </p:txBody>
      </p:sp>
      <p:sp>
        <p:nvSpPr>
          <p:cNvPr id="3" name="Content Placeholder 2"/>
          <p:cNvSpPr>
            <a:spLocks noGrp="1"/>
          </p:cNvSpPr>
          <p:nvPr>
            <p:ph idx="1"/>
          </p:nvPr>
        </p:nvSpPr>
        <p:spPr/>
        <p:txBody>
          <a:bodyPr/>
          <a:lstStyle/>
          <a:p>
            <a:pPr lvl="0" indent="0" marL="0">
              <a:buNone/>
            </a:pPr>
            <a:r>
              <a:rPr/>
              <a:t> </a:t>
            </a:r>
          </a:p>
          <a:p>
            <a:pPr lvl="0" indent="0" marL="0">
              <a:buNone/>
            </a:pPr>
            <a:r>
              <a:rPr b="1"/>
              <a:t>Good luck on your continued AI journey!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Learning Journey</dc:title>
  <dc:creator>AI Instructional Designer</dc:creator>
  <cp:keywords/>
  <dcterms:created xsi:type="dcterms:W3CDTF">2026-01-02T12:17:03Z</dcterms:created>
  <dcterms:modified xsi:type="dcterms:W3CDTF">2026-01-02T12:17:03Z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subtitle">
    <vt:lpwstr>From Aware User to System Designer</vt:lpwstr>
  </property>
  <property fmtid="{D5CDD505-2E9C-101B-9397-08002B2CF9AE}" pid="10" name="toc-title">
    <vt:lpwstr>Table of contents</vt:lpwstr>
  </property>
</Properties>
</file>